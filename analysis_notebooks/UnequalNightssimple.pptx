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8" r:id="rId8"/>
    <p:sldId id="262" r:id="rId9"/>
    <p:sldId id="263" r:id="rId10"/>
    <p:sldId id="264" r:id="rId11"/>
    <p:sldId id="265" r:id="rId12"/>
    <p:sldId id="266" r:id="rId13"/>
    <p:sldId id="267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F111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6" d="100"/>
          <a:sy n="76" d="100"/>
        </p:scale>
        <p:origin x="69" y="7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923068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BECC74-EC5F-D9A1-5CDC-DFDA153B78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7A383A2-1BC3-3793-1A00-32460C23334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65546E8-3398-9E78-33BF-40FA42441B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583AE2-77A0-C402-D50B-D568E895882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437230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2edbdbc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762000"/>
            <a:ext cx="1143000" cy="1143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964301" y="1591717"/>
            <a:ext cx="521525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200"/>
              </a:lnSpc>
              <a:buNone/>
            </a:pPr>
            <a:r>
              <a:rPr lang="en-US" sz="42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UNEQUAL NIGHTS</a:t>
            </a:r>
            <a:endParaRPr lang="en-US" sz="4200" dirty="0"/>
          </a:p>
        </p:txBody>
      </p:sp>
      <p:sp>
        <p:nvSpPr>
          <p:cNvPr id="4" name="Text 1"/>
          <p:cNvSpPr/>
          <p:nvPr/>
        </p:nvSpPr>
        <p:spPr>
          <a:xfrm>
            <a:off x="3204241" y="3436243"/>
            <a:ext cx="2735369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20"/>
              </a:lnSpc>
              <a:buNone/>
            </a:pPr>
            <a:r>
              <a:rPr lang="en-US" sz="18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Shining Light on Inequality</a:t>
            </a:r>
            <a:endParaRPr lang="en-US" sz="1800" dirty="0"/>
          </a:p>
        </p:txBody>
      </p:sp>
      <p:pic>
        <p:nvPicPr>
          <p:cNvPr id="5" name="Image 1" descr="/tmp/rasterized-gradient-5c83a14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00351" y="2940397"/>
            <a:ext cx="1143000" cy="28575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3152476" y="4028841"/>
            <a:ext cx="2838899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90"/>
              </a:lnSpc>
              <a:buNone/>
            </a:pPr>
            <a:r>
              <a:rPr lang="en-US" sz="13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Philadelphia Lighting Equity Analysis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28600"/>
            <a:ext cx="428453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7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Research Question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381000" y="819150"/>
            <a:ext cx="8382000" cy="674340"/>
          </a:xfrm>
          <a:prstGeom prst="rect">
            <a:avLst/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400050" y="819150"/>
            <a:ext cx="0" cy="674340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647700" y="1009650"/>
            <a:ext cx="8044434" cy="293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10"/>
              </a:lnSpc>
              <a:buNone/>
            </a:pPr>
            <a:r>
              <a:rPr lang="en-US" sz="1650" i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"Why do some areas remain dark, yet residents never complain?"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381000" y="1836390"/>
            <a:ext cx="854964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COMPLAINT GAP CONCEPT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1431122" y="2820713"/>
            <a:ext cx="1238250" cy="969466"/>
          </a:xfrm>
          <a:prstGeom prst="roundRect">
            <a:avLst>
              <a:gd name="adj" fmla="val 7860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1613050" y="3097731"/>
            <a:ext cx="874395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 LIGHT</a:t>
            </a:r>
            <a:endParaRPr lang="en-US" sz="975" dirty="0"/>
          </a:p>
        </p:txBody>
      </p:sp>
      <p:sp>
        <p:nvSpPr>
          <p:cNvPr id="10" name="Text 8"/>
          <p:cNvSpPr/>
          <p:nvPr/>
        </p:nvSpPr>
        <p:spPr>
          <a:xfrm>
            <a:off x="1613050" y="3309067"/>
            <a:ext cx="87439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Objectively Dark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2783672" y="3145456"/>
            <a:ext cx="136169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18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031471" y="2820713"/>
            <a:ext cx="1238250" cy="969466"/>
          </a:xfrm>
          <a:prstGeom prst="roundRect">
            <a:avLst>
              <a:gd name="adj" fmla="val 7860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3213399" y="3097731"/>
            <a:ext cx="874395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 311</a:t>
            </a:r>
            <a:endParaRPr lang="en-US" sz="975" dirty="0"/>
          </a:p>
        </p:txBody>
      </p:sp>
      <p:sp>
        <p:nvSpPr>
          <p:cNvPr id="15" name="Text 13"/>
          <p:cNvSpPr/>
          <p:nvPr/>
        </p:nvSpPr>
        <p:spPr>
          <a:xfrm>
            <a:off x="3213399" y="3309067"/>
            <a:ext cx="87439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Few Complaints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4384021" y="3145456"/>
            <a:ext cx="136169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18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631820" y="2820713"/>
            <a:ext cx="1238250" cy="969466"/>
          </a:xfrm>
          <a:prstGeom prst="roundRect">
            <a:avLst>
              <a:gd name="adj" fmla="val 7860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4813747" y="3097731"/>
            <a:ext cx="874395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 INCOME</a:t>
            </a:r>
            <a:endParaRPr lang="en-US" sz="975" dirty="0"/>
          </a:p>
        </p:txBody>
      </p:sp>
      <p:sp>
        <p:nvSpPr>
          <p:cNvPr id="20" name="Text 18"/>
          <p:cNvSpPr/>
          <p:nvPr/>
        </p:nvSpPr>
        <p:spPr>
          <a:xfrm>
            <a:off x="4813747" y="3309067"/>
            <a:ext cx="87439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Vulnerable Areas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5984370" y="3145456"/>
            <a:ext cx="136169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18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232169" y="2820713"/>
            <a:ext cx="1428750" cy="969466"/>
          </a:xfrm>
          <a:prstGeom prst="roundRect">
            <a:avLst>
              <a:gd name="adj" fmla="val 7860"/>
            </a:avLst>
          </a:prstGeom>
          <a:solidFill>
            <a:srgbClr val="EF444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6412191" y="3097731"/>
            <a:ext cx="1068705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COMPLAINT GAP</a:t>
            </a:r>
            <a:endParaRPr lang="en-US" sz="975" dirty="0"/>
          </a:p>
        </p:txBody>
      </p:sp>
      <p:sp>
        <p:nvSpPr>
          <p:cNvPr id="25" name="Text 23"/>
          <p:cNvSpPr/>
          <p:nvPr/>
        </p:nvSpPr>
        <p:spPr>
          <a:xfrm>
            <a:off x="6412191" y="3309067"/>
            <a:ext cx="106870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5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Underserved Areas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271275" y="4133079"/>
            <a:ext cx="854964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These communities need proactive intervention, not reactive 311 responses.</a:t>
            </a:r>
            <a:endParaRPr lang="en-US" sz="1050" dirty="0"/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FB4CDD35-9D8E-051F-5A0E-AF402E36DB5D}"/>
              </a:ext>
            </a:extLst>
          </p:cNvPr>
          <p:cNvSpPr txBox="1"/>
          <p:nvPr/>
        </p:nvSpPr>
        <p:spPr>
          <a:xfrm>
            <a:off x="2877661" y="1691019"/>
            <a:ext cx="4572000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100" dirty="0">
                <a:solidFill>
                  <a:schemeClr val="bg1">
                    <a:lumMod val="95000"/>
                  </a:schemeClr>
                </a:solidFill>
              </a:rPr>
              <a:t>Traditional maintenance relies on 311 complaints. But some communities face barriers to reporting: language, time, distrust, or lack of awareness. Satellite data reveals what complaints miss.</a:t>
            </a: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804B7B53-39B0-C6BC-A4D3-2921C12C4E00}"/>
              </a:ext>
            </a:extLst>
          </p:cNvPr>
          <p:cNvSpPr txBox="1"/>
          <p:nvPr/>
        </p:nvSpPr>
        <p:spPr>
          <a:xfrm>
            <a:off x="2345820" y="4372428"/>
            <a:ext cx="45720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100" dirty="0">
                <a:solidFill>
                  <a:schemeClr val="bg1">
                    <a:lumMod val="95000"/>
                  </a:schemeClr>
                </a:solidFill>
              </a:rPr>
              <a:t>This study uses VIIRS satellite data to objectively identify dark areas, bypassing the complaint system to find underserved communities directly.</a:t>
            </a:r>
            <a:endParaRPr lang="zh-CN" altLang="en-US" sz="1100" dirty="0">
              <a:solidFill>
                <a:schemeClr val="bg1">
                  <a:lumMod val="95000"/>
                </a:schemeClr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28600"/>
            <a:ext cx="428453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7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Sources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381000" y="1213545"/>
            <a:ext cx="5562600" cy="683865"/>
          </a:xfrm>
          <a:prstGeom prst="roundRect">
            <a:avLst>
              <a:gd name="adj" fmla="val 11143"/>
            </a:avLst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395288" y="1213545"/>
            <a:ext cx="0" cy="683865"/>
          </a:xfrm>
          <a:prstGeom prst="line">
            <a:avLst/>
          </a:prstGeom>
          <a:noFill/>
          <a:ln w="28575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581025" y="1346895"/>
            <a:ext cx="155873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VIIRS Satellite Data</a:t>
            </a:r>
            <a:endParaRPr lang="en-US" sz="1125" dirty="0"/>
          </a:p>
        </p:txBody>
      </p:sp>
      <p:sp>
        <p:nvSpPr>
          <p:cNvPr id="6" name="Text 4"/>
          <p:cNvSpPr/>
          <p:nvPr/>
        </p:nvSpPr>
        <p:spPr>
          <a:xfrm>
            <a:off x="581025" y="1604070"/>
            <a:ext cx="5294947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450"/>
              </a:spcBef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Nighttime light radiance, 2022-2024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81000" y="2011710"/>
            <a:ext cx="5562600" cy="683865"/>
          </a:xfrm>
          <a:prstGeom prst="roundRect">
            <a:avLst>
              <a:gd name="adj" fmla="val 11143"/>
            </a:avLst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395288" y="2011710"/>
            <a:ext cx="0" cy="683865"/>
          </a:xfrm>
          <a:prstGeom prst="line">
            <a:avLst/>
          </a:prstGeom>
          <a:noFill/>
          <a:ln w="28575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581025" y="2145060"/>
            <a:ext cx="171311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311 Service Requests</a:t>
            </a:r>
            <a:endParaRPr lang="en-US" sz="1125" dirty="0"/>
          </a:p>
        </p:txBody>
      </p:sp>
      <p:sp>
        <p:nvSpPr>
          <p:cNvPr id="10" name="Text 8"/>
          <p:cNvSpPr/>
          <p:nvPr/>
        </p:nvSpPr>
        <p:spPr>
          <a:xfrm>
            <a:off x="581025" y="2402235"/>
            <a:ext cx="5294947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450"/>
              </a:spcBef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Street light outage complaints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81000" y="2809875"/>
            <a:ext cx="5562600" cy="683865"/>
          </a:xfrm>
          <a:prstGeom prst="roundRect">
            <a:avLst>
              <a:gd name="adj" fmla="val 11143"/>
            </a:avLst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395288" y="2809875"/>
            <a:ext cx="0" cy="683865"/>
          </a:xfrm>
          <a:prstGeom prst="line">
            <a:avLst/>
          </a:prstGeom>
          <a:noFill/>
          <a:ln w="28575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581025" y="2943225"/>
            <a:ext cx="99189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Crime Data</a:t>
            </a:r>
            <a:endParaRPr lang="en-US" sz="1125" dirty="0"/>
          </a:p>
        </p:txBody>
      </p:sp>
      <p:sp>
        <p:nvSpPr>
          <p:cNvPr id="14" name="Text 12"/>
          <p:cNvSpPr/>
          <p:nvPr/>
        </p:nvSpPr>
        <p:spPr>
          <a:xfrm>
            <a:off x="581025" y="3200400"/>
            <a:ext cx="5294947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450"/>
              </a:spcBef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Incident locations for risk analysis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81000" y="3608040"/>
            <a:ext cx="5562600" cy="683865"/>
          </a:xfrm>
          <a:prstGeom prst="roundRect">
            <a:avLst>
              <a:gd name="adj" fmla="val 11143"/>
            </a:avLst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395288" y="3608040"/>
            <a:ext cx="0" cy="683865"/>
          </a:xfrm>
          <a:prstGeom prst="line">
            <a:avLst/>
          </a:prstGeom>
          <a:noFill/>
          <a:ln w="28575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581025" y="3741390"/>
            <a:ext cx="180161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Census Demographics</a:t>
            </a:r>
            <a:endParaRPr lang="en-US" sz="1125" dirty="0"/>
          </a:p>
        </p:txBody>
      </p:sp>
      <p:sp>
        <p:nvSpPr>
          <p:cNvPr id="18" name="Text 16"/>
          <p:cNvSpPr/>
          <p:nvPr/>
        </p:nvSpPr>
        <p:spPr>
          <a:xfrm>
            <a:off x="581025" y="3998565"/>
            <a:ext cx="5294947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450"/>
              </a:spcBef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Population, income, housing data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096000" y="1184077"/>
            <a:ext cx="2667000" cy="1416993"/>
          </a:xfrm>
          <a:prstGeom prst="roundRect">
            <a:avLst>
              <a:gd name="adj" fmla="val 5378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6263640" y="1374577"/>
            <a:ext cx="2331720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040"/>
              </a:lnSpc>
              <a:buNone/>
            </a:pPr>
            <a:r>
              <a:rPr lang="en-US" sz="36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1,283</a:t>
            </a:r>
            <a:endParaRPr lang="en-US" sz="3600" dirty="0"/>
          </a:p>
        </p:txBody>
      </p:sp>
      <p:sp>
        <p:nvSpPr>
          <p:cNvPr id="21" name="Text 19"/>
          <p:cNvSpPr/>
          <p:nvPr/>
        </p:nvSpPr>
        <p:spPr>
          <a:xfrm>
            <a:off x="6263640" y="2052637"/>
            <a:ext cx="233172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65"/>
              </a:lnSpc>
              <a:spcBef>
                <a:spcPts val="300"/>
              </a:spcBef>
              <a:buNone/>
            </a:pPr>
            <a:r>
              <a:rPr lang="en-US" sz="97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 Groups Analyzed</a:t>
            </a:r>
            <a:endParaRPr lang="en-US" sz="975" dirty="0"/>
          </a:p>
        </p:txBody>
      </p:sp>
      <p:sp>
        <p:nvSpPr>
          <p:cNvPr id="22" name="Text 20"/>
          <p:cNvSpPr/>
          <p:nvPr/>
        </p:nvSpPr>
        <p:spPr>
          <a:xfrm>
            <a:off x="6263640" y="2263973"/>
            <a:ext cx="233172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(95.9% of Philadelphia)</a:t>
            </a:r>
            <a:endParaRPr lang="en-US" sz="825" dirty="0"/>
          </a:p>
        </p:txBody>
      </p:sp>
      <p:sp>
        <p:nvSpPr>
          <p:cNvPr id="25" name="Text 23"/>
          <p:cNvSpPr/>
          <p:nvPr/>
        </p:nvSpPr>
        <p:spPr>
          <a:xfrm>
            <a:off x="6096000" y="2715517"/>
            <a:ext cx="2667000" cy="1690835"/>
          </a:xfrm>
          <a:prstGeom prst="roundRect">
            <a:avLst>
              <a:gd name="adj" fmla="val 10417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6248400" y="2791570"/>
            <a:ext cx="2409444" cy="1456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260"/>
              </a:lnSpc>
              <a:spcAft>
                <a:spcPts val="600"/>
              </a:spcAft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ANALYSIS TOOLS</a:t>
            </a:r>
          </a:p>
          <a:p>
            <a:pPr>
              <a:lnSpc>
                <a:spcPts val="1260"/>
              </a:lnSpc>
              <a:spcAft>
                <a:spcPts val="600"/>
              </a:spcAft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Raster: Reclassify, Raster Calculator, Focal Statistics</a:t>
            </a:r>
          </a:p>
          <a:p>
            <a:pPr>
              <a:lnSpc>
                <a:spcPts val="1260"/>
              </a:lnSpc>
              <a:spcAft>
                <a:spcPts val="600"/>
              </a:spcAft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Zonal: Zonal Statistics, Summary Statistics</a:t>
            </a:r>
          </a:p>
          <a:p>
            <a:pPr>
              <a:lnSpc>
                <a:spcPts val="1260"/>
              </a:lnSpc>
              <a:spcAft>
                <a:spcPts val="600"/>
              </a:spcAft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Network: Distance Accumulation, Optimal Path</a:t>
            </a:r>
          </a:p>
          <a:p>
            <a:pPr>
              <a:lnSpc>
                <a:spcPts val="1260"/>
              </a:lnSpc>
              <a:spcAft>
                <a:spcPts val="600"/>
              </a:spcAft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Overlay: Spatial Join</a:t>
            </a:r>
          </a:p>
          <a:p>
            <a:pPr>
              <a:lnSpc>
                <a:spcPts val="1260"/>
              </a:lnSpc>
              <a:spcAft>
                <a:spcPts val="600"/>
              </a:spcAft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cs typeface="Arial" pitchFamily="34" charset="-120"/>
              </a:rPr>
              <a:t>P</a:t>
            </a:r>
            <a:r>
              <a:rPr lang="en-US" altLang="zh-CN" sz="800" dirty="0">
                <a:solidFill>
                  <a:srgbClr val="94A3B8"/>
                </a:solidFill>
                <a:latin typeface="Arial" pitchFamily="34" charset="0"/>
                <a:cs typeface="Arial" pitchFamily="34" charset="-120"/>
              </a:rPr>
              <a:t>ython</a:t>
            </a:r>
            <a:r>
              <a:rPr lang="zh-CN" altLang="en-US" sz="800" dirty="0">
                <a:solidFill>
                  <a:srgbClr val="94A3B8"/>
                </a:solidFill>
                <a:latin typeface="Arial" pitchFamily="34" charset="0"/>
                <a:cs typeface="Arial" pitchFamily="34" charset="-120"/>
              </a:rPr>
              <a:t>：</a:t>
            </a:r>
            <a:r>
              <a:rPr lang="en-US" altLang="zh-CN" sz="800" dirty="0">
                <a:solidFill>
                  <a:srgbClr val="94A3B8"/>
                </a:solidFill>
                <a:latin typeface="Arial" pitchFamily="34" charset="0"/>
                <a:cs typeface="Arial" pitchFamily="34" charset="-120"/>
              </a:rPr>
              <a:t>pandas, </a:t>
            </a:r>
            <a:r>
              <a:rPr lang="en-US" altLang="zh-CN" sz="800" dirty="0" err="1">
                <a:solidFill>
                  <a:srgbClr val="94A3B8"/>
                </a:solidFill>
                <a:latin typeface="Arial" pitchFamily="34" charset="0"/>
                <a:cs typeface="Arial" pitchFamily="34" charset="-120"/>
              </a:rPr>
              <a:t>geopandas</a:t>
            </a:r>
            <a:r>
              <a:rPr lang="en-US" altLang="zh-CN" sz="800" dirty="0">
                <a:solidFill>
                  <a:srgbClr val="94A3B8"/>
                </a:solidFill>
                <a:latin typeface="Arial" pitchFamily="34" charset="0"/>
                <a:cs typeface="Arial" pitchFamily="34" charset="-120"/>
              </a:rPr>
              <a:t>, scikit-learn (Random Forest), </a:t>
            </a:r>
            <a:r>
              <a:rPr lang="en-US" altLang="zh-CN" sz="800" dirty="0" err="1">
                <a:solidFill>
                  <a:srgbClr val="94A3B8"/>
                </a:solidFill>
                <a:latin typeface="Arial" pitchFamily="34" charset="0"/>
                <a:cs typeface="Arial" pitchFamily="34" charset="-120"/>
              </a:rPr>
              <a:t>NetworkX</a:t>
            </a:r>
            <a:r>
              <a:rPr lang="en-US" altLang="zh-CN" sz="800" dirty="0">
                <a:solidFill>
                  <a:srgbClr val="94A3B8"/>
                </a:solidFill>
                <a:latin typeface="Arial" pitchFamily="34" charset="0"/>
                <a:cs typeface="Arial" pitchFamily="34" charset="-120"/>
              </a:rPr>
              <a:t>, </a:t>
            </a:r>
            <a:r>
              <a:rPr lang="en-US" altLang="zh-CN" sz="800" dirty="0" err="1">
                <a:solidFill>
                  <a:srgbClr val="94A3B8"/>
                </a:solidFill>
                <a:latin typeface="Arial" pitchFamily="34" charset="0"/>
                <a:cs typeface="Arial" pitchFamily="34" charset="-120"/>
              </a:rPr>
              <a:t>OSMnx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28600"/>
            <a:ext cx="428453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7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Study Area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715000" y="676431"/>
            <a:ext cx="1466850" cy="916186"/>
          </a:xfrm>
          <a:prstGeom prst="roundRect">
            <a:avLst>
              <a:gd name="adj" fmla="val 8317"/>
            </a:avLst>
          </a:prstGeom>
          <a:solidFill>
            <a:srgbClr val="10B98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855780" y="828831"/>
            <a:ext cx="1185291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1,283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5855780" y="1293621"/>
            <a:ext cx="118529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Analyzed</a:t>
            </a:r>
            <a:endParaRPr lang="en-US" sz="825" dirty="0"/>
          </a:p>
        </p:txBody>
      </p:sp>
      <p:sp>
        <p:nvSpPr>
          <p:cNvPr id="9" name="Text 7"/>
          <p:cNvSpPr/>
          <p:nvPr/>
        </p:nvSpPr>
        <p:spPr>
          <a:xfrm>
            <a:off x="7296150" y="676431"/>
            <a:ext cx="1466850" cy="916186"/>
          </a:xfrm>
          <a:prstGeom prst="roundRect">
            <a:avLst>
              <a:gd name="adj" fmla="val 8317"/>
            </a:avLst>
          </a:prstGeom>
          <a:solidFill>
            <a:srgbClr val="64748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436930" y="828831"/>
            <a:ext cx="1185291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7436930" y="1293621"/>
            <a:ext cx="118529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Excluded</a:t>
            </a:r>
            <a:endParaRPr lang="en-US" sz="825" dirty="0"/>
          </a:p>
        </p:txBody>
      </p:sp>
      <p:sp>
        <p:nvSpPr>
          <p:cNvPr id="12" name="Text 10"/>
          <p:cNvSpPr/>
          <p:nvPr/>
        </p:nvSpPr>
        <p:spPr>
          <a:xfrm>
            <a:off x="5715000" y="1745017"/>
            <a:ext cx="3048000" cy="1579215"/>
          </a:xfrm>
          <a:prstGeom prst="roundRect">
            <a:avLst>
              <a:gd name="adj" fmla="val 4825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5867400" y="1897417"/>
            <a:ext cx="279806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260"/>
              </a:lnSpc>
              <a:spcAft>
                <a:spcPts val="750"/>
              </a:spcAft>
            </a:pPr>
            <a:r>
              <a:rPr lang="en-US" sz="9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EXCLUDED AREAS </a:t>
            </a:r>
            <a:r>
              <a:rPr lang="en-US" altLang="zh-CN" sz="900" dirty="0">
                <a:solidFill>
                  <a:schemeClr val="bg1"/>
                </a:solidFill>
              </a:rPr>
              <a:t>Summary Statistics</a:t>
            </a:r>
            <a:endParaRPr lang="en-US" sz="900" dirty="0">
              <a:solidFill>
                <a:schemeClr val="bg1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r>
              <a:rPr lang="en-US" altLang="zh-CN" sz="900" dirty="0">
                <a:solidFill>
                  <a:schemeClr val="bg1"/>
                </a:solidFill>
              </a:rPr>
              <a:t>Other Non-Residential: 20 (36.4%)</a:t>
            </a:r>
          </a:p>
          <a:p>
            <a:r>
              <a:rPr lang="en-US" altLang="zh-CN" sz="900" dirty="0">
                <a:solidFill>
                  <a:schemeClr val="bg1"/>
                </a:solidFill>
              </a:rPr>
              <a:t>Park/Open Space: 18 (32.7%)</a:t>
            </a:r>
          </a:p>
          <a:p>
            <a:r>
              <a:rPr lang="en-US" altLang="zh-CN" sz="900" dirty="0">
                <a:solidFill>
                  <a:schemeClr val="bg1"/>
                </a:solidFill>
              </a:rPr>
              <a:t>Industrial/Port: 7 (12.7%)</a:t>
            </a:r>
          </a:p>
          <a:p>
            <a:r>
              <a:rPr lang="en-US" altLang="zh-CN" sz="900" dirty="0">
                <a:solidFill>
                  <a:schemeClr val="bg1"/>
                </a:solidFill>
              </a:rPr>
              <a:t>Airport: 6 (10.9%)</a:t>
            </a:r>
          </a:p>
          <a:p>
            <a:r>
              <a:rPr lang="en-US" altLang="zh-CN" sz="900" dirty="0">
                <a:solidFill>
                  <a:schemeClr val="bg1"/>
                </a:solidFill>
              </a:rPr>
              <a:t>Institutional: 3 (5.5%)</a:t>
            </a:r>
          </a:p>
          <a:p>
            <a:r>
              <a:rPr lang="en-US" altLang="zh-CN" sz="900" dirty="0">
                <a:solidFill>
                  <a:schemeClr val="bg1"/>
                </a:solidFill>
              </a:rPr>
              <a:t>Water/Special Area: 1 (1.8%)</a:t>
            </a:r>
          </a:p>
          <a:p>
            <a:r>
              <a:rPr lang="en-US" altLang="zh-CN" sz="900" b="1" dirty="0">
                <a:solidFill>
                  <a:schemeClr val="bg1"/>
                </a:solidFill>
              </a:rPr>
              <a:t>Total Area:</a:t>
            </a:r>
            <a:r>
              <a:rPr lang="en-US" altLang="zh-CN" sz="900" dirty="0">
                <a:solidFill>
                  <a:schemeClr val="bg1"/>
                </a:solidFill>
              </a:rPr>
              <a:t> 64.34 km²</a:t>
            </a:r>
          </a:p>
          <a:p>
            <a:pPr marL="0" indent="0" algn="l">
              <a:lnSpc>
                <a:spcPts val="1260"/>
              </a:lnSpc>
              <a:spcAft>
                <a:spcPts val="750"/>
              </a:spcAft>
              <a:buNone/>
            </a:pPr>
            <a:endParaRPr lang="en-US" sz="900" dirty="0">
              <a:solidFill>
                <a:srgbClr val="94A3B8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 algn="l">
              <a:lnSpc>
                <a:spcPts val="1260"/>
              </a:lnSpc>
              <a:spcAft>
                <a:spcPts val="750"/>
              </a:spcAft>
              <a:buNone/>
            </a:pPr>
            <a:endParaRPr lang="en-US" sz="900" dirty="0">
              <a:solidFill>
                <a:srgbClr val="94A3B8"/>
              </a:solidFill>
              <a:latin typeface="Arial" pitchFamily="34" charset="0"/>
              <a:cs typeface="Arial" pitchFamily="34" charset="-120"/>
            </a:endParaRPr>
          </a:p>
          <a:p>
            <a:pPr marL="0" indent="0" algn="l">
              <a:lnSpc>
                <a:spcPts val="1260"/>
              </a:lnSpc>
              <a:spcAft>
                <a:spcPts val="750"/>
              </a:spcAft>
              <a:buNone/>
            </a:pPr>
            <a:endParaRPr lang="en-US" sz="900" dirty="0">
              <a:solidFill>
                <a:srgbClr val="94A3B8"/>
              </a:solidFill>
              <a:latin typeface="Arial" pitchFamily="34" charset="0"/>
              <a:cs typeface="Arial" pitchFamily="34" charset="-120"/>
            </a:endParaRPr>
          </a:p>
          <a:p>
            <a:pPr marL="0" indent="0" algn="l">
              <a:lnSpc>
                <a:spcPts val="1260"/>
              </a:lnSpc>
              <a:spcAft>
                <a:spcPts val="750"/>
              </a:spcAft>
              <a:buNone/>
            </a:pPr>
            <a:endParaRPr lang="en-US" sz="900" dirty="0">
              <a:solidFill>
                <a:srgbClr val="94A3B8"/>
              </a:solidFill>
              <a:latin typeface="Arial" pitchFamily="34" charset="0"/>
              <a:cs typeface="Arial" pitchFamily="34" charset="-120"/>
            </a:endParaRPr>
          </a:p>
          <a:p>
            <a:pPr marL="0" indent="0" algn="l">
              <a:lnSpc>
                <a:spcPts val="1260"/>
              </a:lnSpc>
              <a:spcAft>
                <a:spcPts val="750"/>
              </a:spcAft>
              <a:buNone/>
            </a:pPr>
            <a:endParaRPr lang="en-US" sz="900" dirty="0">
              <a:solidFill>
                <a:srgbClr val="94A3B8"/>
              </a:solidFill>
              <a:latin typeface="Arial" pitchFamily="34" charset="0"/>
              <a:cs typeface="Arial" pitchFamily="34" charset="-12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5715000" y="3476632"/>
            <a:ext cx="3048000" cy="1122258"/>
          </a:xfrm>
          <a:prstGeom prst="roundRect">
            <a:avLst>
              <a:gd name="adj" fmla="val 10205"/>
            </a:avLst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5729288" y="3476632"/>
            <a:ext cx="0" cy="1122258"/>
          </a:xfrm>
          <a:prstGeom prst="line">
            <a:avLst/>
          </a:prstGeom>
          <a:noFill/>
          <a:ln w="28575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5876925" y="3609982"/>
            <a:ext cx="2807779" cy="855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260"/>
              </a:lnSpc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Study area selection using land use classification. 1,283 residential block groups were included for analysis. 55 non-residential blocks (airports, parks, industrial zones) were excluded due to unique lighting requirements not comparable to typical neighborhoods.</a:t>
            </a:r>
            <a:endParaRPr lang="en-US" sz="900" dirty="0"/>
          </a:p>
        </p:txBody>
      </p:sp>
      <p:pic>
        <p:nvPicPr>
          <p:cNvPr id="19" name="图片 18">
            <a:extLst>
              <a:ext uri="{FF2B5EF4-FFF2-40B4-BE49-F238E27FC236}">
                <a16:creationId xmlns:a16="http://schemas.microsoft.com/office/drawing/2014/main" id="{A5C0D6B1-E171-9B3E-F7A9-8BB8316AC9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669108"/>
            <a:ext cx="5095050" cy="392978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28600"/>
            <a:ext cx="428453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7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Methodology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1313457" y="1057350"/>
            <a:ext cx="1143000" cy="388590"/>
          </a:xfrm>
          <a:prstGeom prst="roundRect">
            <a:avLst>
              <a:gd name="adj" fmla="val 19609"/>
            </a:avLst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1496337" y="1171650"/>
            <a:ext cx="77724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buNone/>
            </a:pPr>
            <a:r>
              <a:rPr lang="en-US" sz="9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VIIRS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608857" y="1057350"/>
            <a:ext cx="1143000" cy="388590"/>
          </a:xfrm>
          <a:prstGeom prst="roundRect">
            <a:avLst>
              <a:gd name="adj" fmla="val 19609"/>
            </a:avLst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2791737" y="1171650"/>
            <a:ext cx="77724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buNone/>
            </a:pPr>
            <a:r>
              <a:rPr lang="en-US" sz="9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311 Data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904257" y="1057350"/>
            <a:ext cx="1143000" cy="388590"/>
          </a:xfrm>
          <a:prstGeom prst="roundRect">
            <a:avLst>
              <a:gd name="adj" fmla="val 19609"/>
            </a:avLst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087137" y="1171650"/>
            <a:ext cx="77724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buNone/>
            </a:pPr>
            <a:r>
              <a:rPr lang="en-US" sz="9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Crime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199657" y="1057350"/>
            <a:ext cx="1143000" cy="388590"/>
          </a:xfrm>
          <a:prstGeom prst="roundRect">
            <a:avLst>
              <a:gd name="adj" fmla="val 19609"/>
            </a:avLst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5382537" y="1171650"/>
            <a:ext cx="77724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buNone/>
            </a:pPr>
            <a:r>
              <a:rPr lang="en-US" sz="9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Census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379663" y="1653778"/>
            <a:ext cx="19233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2096542" y="2103239"/>
            <a:ext cx="1108025" cy="662732"/>
          </a:xfrm>
          <a:prstGeom prst="roundRect">
            <a:avLst>
              <a:gd name="adj" fmla="val 11498"/>
            </a:avLst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2338065" y="2255639"/>
            <a:ext cx="62498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65"/>
              </a:lnSpc>
              <a:spcAft>
                <a:spcPts val="300"/>
              </a:spcAft>
              <a:buNone/>
            </a:pPr>
            <a:r>
              <a:rPr lang="en-US" sz="975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Reclassify</a:t>
            </a:r>
            <a:endParaRPr lang="en-US" sz="975" dirty="0"/>
          </a:p>
        </p:txBody>
      </p:sp>
      <p:sp>
        <p:nvSpPr>
          <p:cNvPr id="14" name="Text 12"/>
          <p:cNvSpPr/>
          <p:nvPr/>
        </p:nvSpPr>
        <p:spPr>
          <a:xfrm>
            <a:off x="2338065" y="2466975"/>
            <a:ext cx="62498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1-5</a:t>
            </a:r>
            <a:endParaRPr lang="en-US" sz="825" dirty="0"/>
          </a:p>
        </p:txBody>
      </p:sp>
      <p:sp>
        <p:nvSpPr>
          <p:cNvPr id="15" name="Text 13"/>
          <p:cNvSpPr/>
          <p:nvPr/>
        </p:nvSpPr>
        <p:spPr>
          <a:xfrm>
            <a:off x="3393162" y="2301180"/>
            <a:ext cx="19431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776067" y="2103239"/>
            <a:ext cx="1259235" cy="662732"/>
          </a:xfrm>
          <a:prstGeom prst="roundRect">
            <a:avLst>
              <a:gd name="adj" fmla="val 11498"/>
            </a:avLst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4016078" y="2255639"/>
            <a:ext cx="779213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65"/>
              </a:lnSpc>
              <a:spcAft>
                <a:spcPts val="300"/>
              </a:spcAft>
              <a:buNone/>
            </a:pPr>
            <a:r>
              <a:rPr lang="en-US" sz="975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Surface</a:t>
            </a:r>
            <a:endParaRPr lang="en-US" sz="975" dirty="0"/>
          </a:p>
        </p:txBody>
      </p:sp>
      <p:sp>
        <p:nvSpPr>
          <p:cNvPr id="18" name="Text 16"/>
          <p:cNvSpPr/>
          <p:nvPr/>
        </p:nvSpPr>
        <p:spPr>
          <a:xfrm>
            <a:off x="4016078" y="2466975"/>
            <a:ext cx="77921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Weighted Risk</a:t>
            </a:r>
            <a:endParaRPr lang="en-US" sz="825" dirty="0"/>
          </a:p>
        </p:txBody>
      </p:sp>
      <p:sp>
        <p:nvSpPr>
          <p:cNvPr id="19" name="Text 17"/>
          <p:cNvSpPr/>
          <p:nvPr/>
        </p:nvSpPr>
        <p:spPr>
          <a:xfrm>
            <a:off x="5223897" y="2301180"/>
            <a:ext cx="19431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606802" y="2103239"/>
            <a:ext cx="1440507" cy="662732"/>
          </a:xfrm>
          <a:prstGeom prst="roundRect">
            <a:avLst>
              <a:gd name="adj" fmla="val 11498"/>
            </a:avLst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5845000" y="2255639"/>
            <a:ext cx="964112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65"/>
              </a:lnSpc>
              <a:spcAft>
                <a:spcPts val="300"/>
              </a:spcAft>
              <a:buNone/>
            </a:pPr>
            <a:r>
              <a:rPr lang="en-US" sz="975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Spatial Analysis</a:t>
            </a:r>
            <a:endParaRPr lang="en-US" sz="975" dirty="0"/>
          </a:p>
        </p:txBody>
      </p:sp>
      <p:sp>
        <p:nvSpPr>
          <p:cNvPr id="22" name="Text 20"/>
          <p:cNvSpPr/>
          <p:nvPr/>
        </p:nvSpPr>
        <p:spPr>
          <a:xfrm>
            <a:off x="5845000" y="2466975"/>
            <a:ext cx="96411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Zonal + Focal</a:t>
            </a:r>
            <a:endParaRPr lang="en-US" sz="825" dirty="0"/>
          </a:p>
        </p:txBody>
      </p:sp>
      <p:sp>
        <p:nvSpPr>
          <p:cNvPr id="23" name="Text 21"/>
          <p:cNvSpPr/>
          <p:nvPr/>
        </p:nvSpPr>
        <p:spPr>
          <a:xfrm>
            <a:off x="4380034" y="2977679"/>
            <a:ext cx="19233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2292429" y="3358530"/>
            <a:ext cx="1337816" cy="624632"/>
          </a:xfrm>
          <a:prstGeom prst="roundRect">
            <a:avLst>
              <a:gd name="adj" fmla="val 12199"/>
            </a:avLst>
          </a:prstGeom>
          <a:solidFill>
            <a:srgbClr val="EF444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2512223" y="3491880"/>
            <a:ext cx="898228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Complaint Gap</a:t>
            </a:r>
            <a:endParaRPr lang="en-US" sz="975" dirty="0"/>
          </a:p>
        </p:txBody>
      </p:sp>
      <p:sp>
        <p:nvSpPr>
          <p:cNvPr id="26" name="Text 24"/>
          <p:cNvSpPr/>
          <p:nvPr/>
        </p:nvSpPr>
        <p:spPr>
          <a:xfrm>
            <a:off x="2512223" y="3703216"/>
            <a:ext cx="89822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62 Areas</a:t>
            </a:r>
            <a:endParaRPr lang="en-US" sz="825" dirty="0"/>
          </a:p>
        </p:txBody>
      </p:sp>
      <p:sp>
        <p:nvSpPr>
          <p:cNvPr id="27" name="Text 25"/>
          <p:cNvSpPr/>
          <p:nvPr/>
        </p:nvSpPr>
        <p:spPr>
          <a:xfrm>
            <a:off x="3782645" y="3358530"/>
            <a:ext cx="1441252" cy="624632"/>
          </a:xfrm>
          <a:prstGeom prst="roundRect">
            <a:avLst>
              <a:gd name="adj" fmla="val 12199"/>
            </a:avLst>
          </a:prstGeom>
          <a:solidFill>
            <a:srgbClr val="3B82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4001405" y="3491880"/>
            <a:ext cx="1003733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Predictive Model</a:t>
            </a:r>
            <a:endParaRPr lang="en-US" sz="975" dirty="0"/>
          </a:p>
        </p:txBody>
      </p:sp>
      <p:sp>
        <p:nvSpPr>
          <p:cNvPr id="29" name="Text 27"/>
          <p:cNvSpPr/>
          <p:nvPr/>
        </p:nvSpPr>
        <p:spPr>
          <a:xfrm>
            <a:off x="4001405" y="3703216"/>
            <a:ext cx="100373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 Forest</a:t>
            </a:r>
            <a:endParaRPr lang="en-US" sz="825" dirty="0"/>
          </a:p>
        </p:txBody>
      </p:sp>
      <p:sp>
        <p:nvSpPr>
          <p:cNvPr id="30" name="Text 28"/>
          <p:cNvSpPr/>
          <p:nvPr/>
        </p:nvSpPr>
        <p:spPr>
          <a:xfrm>
            <a:off x="5376297" y="3358530"/>
            <a:ext cx="1255068" cy="624632"/>
          </a:xfrm>
          <a:prstGeom prst="roundRect">
            <a:avLst>
              <a:gd name="adj" fmla="val 12199"/>
            </a:avLst>
          </a:prstGeom>
          <a:solidFill>
            <a:srgbClr val="10B98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5596918" y="3491880"/>
            <a:ext cx="813825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 Paths</a:t>
            </a:r>
            <a:endParaRPr lang="en-US" sz="975" dirty="0"/>
          </a:p>
        </p:txBody>
      </p:sp>
      <p:sp>
        <p:nvSpPr>
          <p:cNvPr id="32" name="Text 30"/>
          <p:cNvSpPr/>
          <p:nvPr/>
        </p:nvSpPr>
        <p:spPr>
          <a:xfrm>
            <a:off x="5596918" y="3703216"/>
            <a:ext cx="81382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 Analysis</a:t>
            </a:r>
            <a:endParaRPr lang="en-US" sz="825" dirty="0"/>
          </a:p>
        </p:txBody>
      </p:sp>
      <p:sp>
        <p:nvSpPr>
          <p:cNvPr id="36" name="Text 7">
            <a:extLst>
              <a:ext uri="{FF2B5EF4-FFF2-40B4-BE49-F238E27FC236}">
                <a16:creationId xmlns:a16="http://schemas.microsoft.com/office/drawing/2014/main" id="{7B62CF18-2475-8FAD-03CB-582EC755F18B}"/>
              </a:ext>
            </a:extLst>
          </p:cNvPr>
          <p:cNvSpPr/>
          <p:nvPr/>
        </p:nvSpPr>
        <p:spPr>
          <a:xfrm>
            <a:off x="6461719" y="1046039"/>
            <a:ext cx="1143000" cy="388590"/>
          </a:xfrm>
          <a:prstGeom prst="roundRect">
            <a:avLst>
              <a:gd name="adj" fmla="val 19609"/>
            </a:avLst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7" name="Text 8">
            <a:extLst>
              <a:ext uri="{FF2B5EF4-FFF2-40B4-BE49-F238E27FC236}">
                <a16:creationId xmlns:a16="http://schemas.microsoft.com/office/drawing/2014/main" id="{5D05B374-6E62-E569-A329-B70A4E4CE5AF}"/>
              </a:ext>
            </a:extLst>
          </p:cNvPr>
          <p:cNvSpPr/>
          <p:nvPr/>
        </p:nvSpPr>
        <p:spPr>
          <a:xfrm>
            <a:off x="6611169" y="1160338"/>
            <a:ext cx="810670" cy="2742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buNone/>
            </a:pPr>
            <a:r>
              <a:rPr lang="en-US" sz="900" dirty="0" err="1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OpenDataPhilly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" name="图片 56">
            <a:extLst>
              <a:ext uri="{FF2B5EF4-FFF2-40B4-BE49-F238E27FC236}">
                <a16:creationId xmlns:a16="http://schemas.microsoft.com/office/drawing/2014/main" id="{40C6F351-A6C2-5CF4-9B1B-98AE701A6B9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312" t="3774" r="4405" b="4121"/>
          <a:stretch>
            <a:fillRect/>
          </a:stretch>
        </p:blipFill>
        <p:spPr>
          <a:xfrm>
            <a:off x="2927010" y="3188491"/>
            <a:ext cx="1966195" cy="1836543"/>
          </a:xfrm>
          <a:prstGeom prst="rect">
            <a:avLst/>
          </a:prstGeom>
        </p:spPr>
      </p:pic>
      <p:pic>
        <p:nvPicPr>
          <p:cNvPr id="55" name="图片 54">
            <a:extLst>
              <a:ext uri="{FF2B5EF4-FFF2-40B4-BE49-F238E27FC236}">
                <a16:creationId xmlns:a16="http://schemas.microsoft.com/office/drawing/2014/main" id="{6CFA9D6E-B4F6-F041-3ACF-B4C2EA0DA84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616" t="5353" r="9625" b="8709"/>
          <a:stretch>
            <a:fillRect/>
          </a:stretch>
        </p:blipFill>
        <p:spPr>
          <a:xfrm>
            <a:off x="2927010" y="1215571"/>
            <a:ext cx="1966195" cy="1841460"/>
          </a:xfrm>
          <a:prstGeom prst="rect">
            <a:avLst/>
          </a:prstGeom>
        </p:spPr>
      </p:pic>
      <p:pic>
        <p:nvPicPr>
          <p:cNvPr id="53" name="图片 52">
            <a:extLst>
              <a:ext uri="{FF2B5EF4-FFF2-40B4-BE49-F238E27FC236}">
                <a16:creationId xmlns:a16="http://schemas.microsoft.com/office/drawing/2014/main" id="{18F6BEE2-D57D-549C-6AB9-D098A3945E7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02066" y="2545135"/>
            <a:ext cx="691139" cy="506980"/>
          </a:xfrm>
          <a:prstGeom prst="rect">
            <a:avLst/>
          </a:prstGeom>
        </p:spPr>
      </p:pic>
      <p:pic>
        <p:nvPicPr>
          <p:cNvPr id="50" name="图片 49">
            <a:extLst>
              <a:ext uri="{FF2B5EF4-FFF2-40B4-BE49-F238E27FC236}">
                <a16:creationId xmlns:a16="http://schemas.microsoft.com/office/drawing/2014/main" id="{1B1E0439-7431-F559-2703-2E638C4D67E6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10370" t="5514" r="7679" b="11068"/>
          <a:stretch>
            <a:fillRect/>
          </a:stretch>
        </p:blipFill>
        <p:spPr>
          <a:xfrm>
            <a:off x="869788" y="3188491"/>
            <a:ext cx="1942922" cy="1836543"/>
          </a:xfrm>
          <a:prstGeom prst="rect">
            <a:avLst/>
          </a:prstGeom>
        </p:spPr>
      </p:pic>
      <p:pic>
        <p:nvPicPr>
          <p:cNvPr id="40" name="图片 39">
            <a:extLst>
              <a:ext uri="{FF2B5EF4-FFF2-40B4-BE49-F238E27FC236}">
                <a16:creationId xmlns:a16="http://schemas.microsoft.com/office/drawing/2014/main" id="{B1441539-33F3-9803-3A0C-B83352AB709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1341" y="1210654"/>
            <a:ext cx="1951369" cy="1841460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381000" y="228600"/>
            <a:ext cx="428453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7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Reclassify &amp; Cost Surface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2238699" y="983549"/>
            <a:ext cx="2070535" cy="2296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RECLASSIFIED LAYERS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093188" y="1213218"/>
            <a:ext cx="310896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SURFACE FORMULA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093188" y="1430358"/>
            <a:ext cx="3048000" cy="1708398"/>
          </a:xfrm>
          <a:prstGeom prst="roundRect">
            <a:avLst>
              <a:gd name="adj" fmla="val 4460"/>
            </a:avLst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5283688" y="1620858"/>
            <a:ext cx="27203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900"/>
              </a:spcAft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Raster Calculator:</a:t>
            </a:r>
            <a:endParaRPr lang="en-US" sz="825" dirty="0"/>
          </a:p>
        </p:txBody>
      </p:sp>
      <p:sp>
        <p:nvSpPr>
          <p:cNvPr id="22" name="Text 20"/>
          <p:cNvSpPr/>
          <p:nvPr/>
        </p:nvSpPr>
        <p:spPr>
          <a:xfrm>
            <a:off x="5283688" y="1881754"/>
            <a:ext cx="2667000" cy="1066502"/>
          </a:xfrm>
          <a:prstGeom prst="roundRect">
            <a:avLst>
              <a:gd name="adj" fmla="val 3572"/>
            </a:avLst>
          </a:prstGeom>
          <a:solidFill>
            <a:srgbClr val="0A162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5397988" y="1996054"/>
            <a:ext cx="2487168" cy="837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20"/>
              </a:lnSpc>
              <a:buNone/>
            </a:pPr>
            <a:r>
              <a:rPr lang="en-US" sz="825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CostSurf_Risk =</a:t>
            </a:r>
            <a:endParaRPr lang="en-US" sz="825" dirty="0"/>
          </a:p>
          <a:p>
            <a:pPr marL="0" indent="0" algn="l">
              <a:lnSpc>
                <a:spcPts val="1320"/>
              </a:lnSpc>
              <a:buNone/>
            </a:pPr>
            <a:r>
              <a:rPr lang="en-US" sz="825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0.30 × Darkness +</a:t>
            </a:r>
            <a:endParaRPr lang="en-US" sz="825" dirty="0"/>
          </a:p>
          <a:p>
            <a:pPr marL="0" indent="0" algn="l">
              <a:lnSpc>
                <a:spcPts val="1320"/>
              </a:lnSpc>
              <a:buNone/>
            </a:pPr>
            <a:r>
              <a:rPr lang="en-US" sz="825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0.30 × Crime +</a:t>
            </a:r>
            <a:endParaRPr lang="en-US" sz="825" dirty="0"/>
          </a:p>
          <a:p>
            <a:pPr marL="0" indent="0" algn="l">
              <a:lnSpc>
                <a:spcPts val="1320"/>
              </a:lnSpc>
              <a:buNone/>
            </a:pPr>
            <a:r>
              <a:rPr lang="en-US" sz="825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0.20 × Low311 +</a:t>
            </a:r>
            <a:endParaRPr lang="en-US" sz="825" dirty="0"/>
          </a:p>
          <a:p>
            <a:pPr marL="0" indent="0" algn="l">
              <a:lnSpc>
                <a:spcPts val="1320"/>
              </a:lnSpc>
              <a:buNone/>
            </a:pPr>
            <a:r>
              <a:rPr lang="en-US" sz="825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0.20 × LowIncome</a:t>
            </a:r>
            <a:endParaRPr lang="en-US" sz="825" dirty="0"/>
          </a:p>
        </p:txBody>
      </p:sp>
      <p:sp>
        <p:nvSpPr>
          <p:cNvPr id="24" name="Text 22"/>
          <p:cNvSpPr/>
          <p:nvPr/>
        </p:nvSpPr>
        <p:spPr>
          <a:xfrm>
            <a:off x="5093188" y="3253056"/>
            <a:ext cx="3048000" cy="1233037"/>
          </a:xfrm>
          <a:prstGeom prst="roundRect">
            <a:avLst>
              <a:gd name="adj" fmla="val 4329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5245588" y="3405456"/>
            <a:ext cx="2798064" cy="1173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260"/>
              </a:lnSpc>
              <a:spcAft>
                <a:spcPts val="750"/>
              </a:spcAft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Weighted cost surface created using Raster Calculator. Four factors were reclassified to 1-5 scale and combined: Darkness (30%), Crime rate (30%), Low 311 complaints (20%), Low income (20%). Higher values indicate higher risk areas requiring priority attention.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576716" y="1255819"/>
            <a:ext cx="990953" cy="149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Darkness</a:t>
            </a:r>
            <a:endParaRPr lang="en-US" sz="825" dirty="0"/>
          </a:p>
        </p:txBody>
      </p:sp>
      <p:sp>
        <p:nvSpPr>
          <p:cNvPr id="9" name="Text 7"/>
          <p:cNvSpPr/>
          <p:nvPr/>
        </p:nvSpPr>
        <p:spPr>
          <a:xfrm>
            <a:off x="3580115" y="1276703"/>
            <a:ext cx="1186212" cy="1823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Crime Rate</a:t>
            </a:r>
            <a:endParaRPr lang="en-US" sz="825" dirty="0"/>
          </a:p>
        </p:txBody>
      </p:sp>
      <p:sp>
        <p:nvSpPr>
          <p:cNvPr id="12" name="Text 10"/>
          <p:cNvSpPr/>
          <p:nvPr/>
        </p:nvSpPr>
        <p:spPr>
          <a:xfrm>
            <a:off x="1580760" y="3245905"/>
            <a:ext cx="657939" cy="213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 311</a:t>
            </a:r>
            <a:endParaRPr lang="en-US" sz="825" dirty="0"/>
          </a:p>
        </p:txBody>
      </p:sp>
      <p:sp>
        <p:nvSpPr>
          <p:cNvPr id="15" name="Text 13"/>
          <p:cNvSpPr/>
          <p:nvPr/>
        </p:nvSpPr>
        <p:spPr>
          <a:xfrm>
            <a:off x="3609085" y="3248669"/>
            <a:ext cx="671997" cy="1576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 Income</a:t>
            </a:r>
            <a:endParaRPr lang="en-US" sz="825" dirty="0"/>
          </a:p>
        </p:txBody>
      </p:sp>
      <p:pic>
        <p:nvPicPr>
          <p:cNvPr id="45" name="图片 44">
            <a:extLst>
              <a:ext uri="{FF2B5EF4-FFF2-40B4-BE49-F238E27FC236}">
                <a16:creationId xmlns:a16="http://schemas.microsoft.com/office/drawing/2014/main" id="{FA0F17E5-3AB0-49E1-D2B4-5C3E7C41F35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104678" y="2549714"/>
            <a:ext cx="699585" cy="497483"/>
          </a:xfrm>
          <a:prstGeom prst="rect">
            <a:avLst/>
          </a:prstGeom>
        </p:spPr>
      </p:pic>
      <p:pic>
        <p:nvPicPr>
          <p:cNvPr id="51" name="图片 50">
            <a:extLst>
              <a:ext uri="{FF2B5EF4-FFF2-40B4-BE49-F238E27FC236}">
                <a16:creationId xmlns:a16="http://schemas.microsoft.com/office/drawing/2014/main" id="{468F4B83-DFDF-59EB-5300-B3F5B4E6DE8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121571" y="4525331"/>
            <a:ext cx="699586" cy="499704"/>
          </a:xfrm>
          <a:prstGeom prst="rect">
            <a:avLst/>
          </a:prstGeom>
        </p:spPr>
      </p:pic>
      <p:pic>
        <p:nvPicPr>
          <p:cNvPr id="59" name="图片 58">
            <a:extLst>
              <a:ext uri="{FF2B5EF4-FFF2-40B4-BE49-F238E27FC236}">
                <a16:creationId xmlns:a16="http://schemas.microsoft.com/office/drawing/2014/main" id="{5CA6139B-161D-33D6-846B-24711AEFDB6E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221207" y="4522118"/>
            <a:ext cx="671998" cy="502915"/>
          </a:xfrm>
          <a:prstGeom prst="rect">
            <a:avLst/>
          </a:prstGeom>
        </p:spPr>
      </p:pic>
      <p:sp>
        <p:nvSpPr>
          <p:cNvPr id="61" name="文本框 60">
            <a:extLst>
              <a:ext uri="{FF2B5EF4-FFF2-40B4-BE49-F238E27FC236}">
                <a16:creationId xmlns:a16="http://schemas.microsoft.com/office/drawing/2014/main" id="{E30DDECD-FE6C-B157-DE2B-DAC7279AB163}"/>
              </a:ext>
            </a:extLst>
          </p:cNvPr>
          <p:cNvSpPr txBox="1"/>
          <p:nvPr/>
        </p:nvSpPr>
        <p:spPr>
          <a:xfrm>
            <a:off x="4607825" y="600404"/>
            <a:ext cx="389046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800" dirty="0">
                <a:solidFill>
                  <a:schemeClr val="bg1">
                    <a:lumMod val="95000"/>
                  </a:schemeClr>
                </a:solidFill>
              </a:rPr>
              <a:t>Python: Integrated VIIRS, 311, Crime, Census data into </a:t>
            </a:r>
            <a:r>
              <a:rPr lang="en-US" altLang="zh-CN" sz="800" dirty="0">
                <a:solidFill>
                  <a:schemeClr val="bg1">
                    <a:lumMod val="95000"/>
                  </a:schemeClr>
                </a:solidFill>
              </a:rPr>
              <a:t>_</a:t>
            </a:r>
            <a:r>
              <a:rPr lang="zh-CN" altLang="en-US" sz="800" dirty="0">
                <a:solidFill>
                  <a:schemeClr val="bg1">
                    <a:lumMod val="95000"/>
                  </a:schemeClr>
                </a:solidFill>
              </a:rPr>
              <a:t>.shp</a:t>
            </a:r>
          </a:p>
          <a:p>
            <a:pPr algn="ctr"/>
            <a:endParaRPr lang="zh-CN" altLang="en-US" sz="800" dirty="0">
              <a:solidFill>
                <a:schemeClr val="bg1">
                  <a:lumMod val="95000"/>
                </a:schemeClr>
              </a:solidFill>
            </a:endParaRPr>
          </a:p>
          <a:p>
            <a:pPr algn="ctr"/>
            <a:r>
              <a:rPr lang="zh-CN" altLang="en-US" sz="800" dirty="0">
                <a:solidFill>
                  <a:schemeClr val="bg1">
                    <a:lumMod val="95000"/>
                  </a:schemeClr>
                </a:solidFill>
              </a:rPr>
              <a:t>ArcGIS: Reclassify each variable to 1-5 scale → Raster Calculator to combine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0CE62A2-BA9B-22E7-ABC8-8D95AC7DFB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 22">
            <a:extLst>
              <a:ext uri="{FF2B5EF4-FFF2-40B4-BE49-F238E27FC236}">
                <a16:creationId xmlns:a16="http://schemas.microsoft.com/office/drawing/2014/main" id="{10424B23-850C-47A8-8CBB-7C294C3FEB37}"/>
              </a:ext>
            </a:extLst>
          </p:cNvPr>
          <p:cNvSpPr/>
          <p:nvPr/>
        </p:nvSpPr>
        <p:spPr>
          <a:xfrm>
            <a:off x="5505999" y="3380210"/>
            <a:ext cx="2616485" cy="1500924"/>
          </a:xfrm>
          <a:prstGeom prst="roundRect">
            <a:avLst>
              <a:gd name="adj" fmla="val 4329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56C2163A-FE7A-288A-9A85-F74491EC0E6C}"/>
              </a:ext>
            </a:extLst>
          </p:cNvPr>
          <p:cNvSpPr/>
          <p:nvPr/>
        </p:nvSpPr>
        <p:spPr>
          <a:xfrm>
            <a:off x="5579429" y="3499277"/>
            <a:ext cx="2469623" cy="14806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260"/>
              </a:lnSpc>
              <a:spcAft>
                <a:spcPts val="750"/>
              </a:spcAft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Weighted overlay combining four reclassified factors: Darkness (30%), Crime (30%), Low 311 (20%), Low income (20%). Brighter areas = higher risk scores.</a:t>
            </a:r>
          </a:p>
          <a:p>
            <a:pPr>
              <a:lnSpc>
                <a:spcPts val="1260"/>
              </a:lnSpc>
              <a:spcAft>
                <a:spcPts val="750"/>
              </a:spcAft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Focal Statistics smoothed VIIRS radiance using circular neighborhood. Center City shows highest brightness concentration; peripheral areas significantly darker.</a:t>
            </a:r>
            <a:endParaRPr lang="en-US" sz="800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0138D64B-B85A-58E3-BFAD-88A8221F0A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151" y="948551"/>
            <a:ext cx="4776932" cy="3912329"/>
          </a:xfrm>
          <a:prstGeom prst="rect">
            <a:avLst/>
          </a:prstGeom>
        </p:spPr>
      </p:pic>
      <p:sp>
        <p:nvSpPr>
          <p:cNvPr id="2" name="Text 0">
            <a:extLst>
              <a:ext uri="{FF2B5EF4-FFF2-40B4-BE49-F238E27FC236}">
                <a16:creationId xmlns:a16="http://schemas.microsoft.com/office/drawing/2014/main" id="{FDFF85E0-3DE6-2A05-11B4-EC1307F6B9ED}"/>
              </a:ext>
            </a:extLst>
          </p:cNvPr>
          <p:cNvSpPr/>
          <p:nvPr/>
        </p:nvSpPr>
        <p:spPr>
          <a:xfrm>
            <a:off x="381000" y="228600"/>
            <a:ext cx="428453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7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Reclassify &amp; Cost Surface</a:t>
            </a:r>
            <a:endParaRPr lang="en-US" sz="2700" dirty="0"/>
          </a:p>
        </p:txBody>
      </p:sp>
      <p:pic>
        <p:nvPicPr>
          <p:cNvPr id="10" name="图片 9" descr="地图  AI 生成的内容可能不正确。">
            <a:extLst>
              <a:ext uri="{FF2B5EF4-FFF2-40B4-BE49-F238E27FC236}">
                <a16:creationId xmlns:a16="http://schemas.microsoft.com/office/drawing/2014/main" id="{43659787-8D64-4EEF-04D6-9F4BFE41C8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05999" y="948551"/>
            <a:ext cx="2616485" cy="2366156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C1CB0258-FA28-4FD8-1E2E-1DE9348360F5}"/>
              </a:ext>
            </a:extLst>
          </p:cNvPr>
          <p:cNvSpPr txBox="1"/>
          <p:nvPr/>
        </p:nvSpPr>
        <p:spPr>
          <a:xfrm>
            <a:off x="6980259" y="2978614"/>
            <a:ext cx="995363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800" dirty="0" err="1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VIIRSFocalMean</a:t>
            </a:r>
            <a:endParaRPr lang="zh-CN" altLang="en-US" sz="800" dirty="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765BDF6A-5971-97EA-17B6-6CB37071A61A}"/>
              </a:ext>
            </a:extLst>
          </p:cNvPr>
          <p:cNvSpPr txBox="1"/>
          <p:nvPr/>
        </p:nvSpPr>
        <p:spPr>
          <a:xfrm>
            <a:off x="2084416" y="4590096"/>
            <a:ext cx="192326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800" b="1" dirty="0" err="1">
                <a:solidFill>
                  <a:schemeClr val="bg1"/>
                </a:solidFill>
                <a:latin typeface="Avenir Next"/>
              </a:rPr>
              <a:t>CostSurf_Risk</a:t>
            </a:r>
            <a:r>
              <a:rPr lang="en-US" altLang="zh-CN" sz="800" b="1" dirty="0">
                <a:solidFill>
                  <a:schemeClr val="bg1"/>
                </a:solidFill>
                <a:latin typeface="Avenir Next"/>
              </a:rPr>
              <a:t> (Weighted Overlay)</a:t>
            </a:r>
            <a:endParaRPr lang="en-US" altLang="zh-CN" sz="800" b="1" i="0" dirty="0">
              <a:solidFill>
                <a:schemeClr val="bg1"/>
              </a:solidFill>
              <a:effectLst/>
              <a:latin typeface="Avenir Next"/>
            </a:endParaRPr>
          </a:p>
        </p:txBody>
      </p:sp>
    </p:spTree>
    <p:extLst>
      <p:ext uri="{BB962C8B-B14F-4D97-AF65-F5344CB8AC3E}">
        <p14:creationId xmlns:p14="http://schemas.microsoft.com/office/powerpoint/2010/main" val="35771838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图片 24">
            <a:extLst>
              <a:ext uri="{FF2B5EF4-FFF2-40B4-BE49-F238E27FC236}">
                <a16:creationId xmlns:a16="http://schemas.microsoft.com/office/drawing/2014/main" id="{DF2C83CE-6227-A443-732A-E65CBBACB57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041"/>
          <a:stretch>
            <a:fillRect/>
          </a:stretch>
        </p:blipFill>
        <p:spPr>
          <a:xfrm>
            <a:off x="581861" y="651570"/>
            <a:ext cx="3724507" cy="3417671"/>
          </a:xfrm>
          <a:prstGeom prst="rect">
            <a:avLst/>
          </a:prstGeom>
        </p:spPr>
      </p:pic>
      <p:pic>
        <p:nvPicPr>
          <p:cNvPr id="23" name="图片 22">
            <a:extLst>
              <a:ext uri="{FF2B5EF4-FFF2-40B4-BE49-F238E27FC236}">
                <a16:creationId xmlns:a16="http://schemas.microsoft.com/office/drawing/2014/main" id="{5EFAA932-2CF7-5785-045E-4DD01C9C1A7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2412"/>
          <a:stretch>
            <a:fillRect/>
          </a:stretch>
        </p:blipFill>
        <p:spPr>
          <a:xfrm>
            <a:off x="4674281" y="651570"/>
            <a:ext cx="4103959" cy="3238762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381000" y="228600"/>
            <a:ext cx="428453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7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Neighborhood Analysis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870597" y="3548867"/>
            <a:ext cx="114703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buNone/>
            </a:pPr>
            <a:r>
              <a:rPr lang="en-US" sz="900" dirty="0" err="1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Zonal_VIIRS_Mean</a:t>
            </a:r>
            <a:r>
              <a:rPr lang="en-US" sz="9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7" name="Text 5"/>
          <p:cNvSpPr/>
          <p:nvPr/>
        </p:nvSpPr>
        <p:spPr>
          <a:xfrm>
            <a:off x="396240" y="3780437"/>
            <a:ext cx="4095750" cy="654343"/>
          </a:xfrm>
          <a:prstGeom prst="roundRect">
            <a:avLst>
              <a:gd name="adj" fmla="val 16954"/>
            </a:avLst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63806" y="3885014"/>
            <a:ext cx="3975652" cy="5308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155"/>
              </a:lnSpc>
            </a:pPr>
            <a:r>
              <a:rPr lang="en-US" sz="825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Zonal Statistics tool calculated mean VIIRS radiance within each block group boundary. This aggregates satellite pixel values to census geography for statistical comparison.</a:t>
            </a:r>
            <a:endParaRPr lang="en-US" sz="825" dirty="0">
              <a:solidFill>
                <a:schemeClr val="bg1"/>
              </a:solidFill>
            </a:endParaRPr>
          </a:p>
        </p:txBody>
      </p:sp>
      <p:sp>
        <p:nvSpPr>
          <p:cNvPr id="11" name="Text 9"/>
          <p:cNvSpPr/>
          <p:nvPr/>
        </p:nvSpPr>
        <p:spPr>
          <a:xfrm>
            <a:off x="6224857" y="3548867"/>
            <a:ext cx="1010867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buNone/>
            </a:pPr>
            <a:r>
              <a:rPr lang="en-US" sz="900" dirty="0" err="1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VIIRSFocalMean</a:t>
            </a:r>
            <a:r>
              <a:rPr lang="en-US" sz="9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13" name="Text 11"/>
          <p:cNvSpPr/>
          <p:nvPr/>
        </p:nvSpPr>
        <p:spPr>
          <a:xfrm>
            <a:off x="4682490" y="3780437"/>
            <a:ext cx="4095750" cy="654343"/>
          </a:xfrm>
          <a:prstGeom prst="roundRect">
            <a:avLst>
              <a:gd name="adj" fmla="val 16954"/>
            </a:avLst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815840" y="3885014"/>
            <a:ext cx="3905631" cy="4355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155"/>
              </a:lnSpc>
            </a:pPr>
            <a:r>
              <a:rPr lang="en-US" sz="825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Focal Statistics with circular neighborhood window smooths brightness values to reveal spatial patterns. Center City shows highest brightness; peripheral neighborhoods significantly darker.</a:t>
            </a:r>
            <a:endParaRPr lang="en-US" sz="825" dirty="0">
              <a:solidFill>
                <a:schemeClr val="bg1"/>
              </a:solidFill>
            </a:endParaRPr>
          </a:p>
        </p:txBody>
      </p:sp>
      <p:sp>
        <p:nvSpPr>
          <p:cNvPr id="16" name="Text 13"/>
          <p:cNvSpPr/>
          <p:nvPr/>
        </p:nvSpPr>
        <p:spPr>
          <a:xfrm>
            <a:off x="396240" y="4514850"/>
            <a:ext cx="816102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05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Finding: Center City is brightest; peripheral neighborhoods show significantly lower lighting levels</a:t>
            </a:r>
            <a:endParaRPr lang="en-US" sz="105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28600"/>
            <a:ext cx="428453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7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Safe Path Analysis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2257033" y="3722932"/>
            <a:ext cx="165527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buNone/>
            </a:pPr>
            <a:r>
              <a:rPr lang="en-US" sz="7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Distance Accumulation + Optimal Path</a:t>
            </a:r>
          </a:p>
          <a:p>
            <a:pPr marL="0" indent="0" algn="ctr">
              <a:lnSpc>
                <a:spcPts val="1050"/>
              </a:lnSpc>
              <a:buNone/>
            </a:pP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5800725" y="781935"/>
            <a:ext cx="3048000" cy="1034207"/>
          </a:xfrm>
          <a:prstGeom prst="roundRect">
            <a:avLst>
              <a:gd name="adj" fmla="val 7368"/>
            </a:avLst>
          </a:prstGeom>
          <a:solidFill>
            <a:srgbClr val="10B98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5925693" y="934335"/>
            <a:ext cx="279806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TRADE-OFF</a:t>
            </a:r>
            <a:endParaRPr lang="en-US" sz="825" dirty="0"/>
          </a:p>
        </p:txBody>
      </p:sp>
      <p:sp>
        <p:nvSpPr>
          <p:cNvPr id="12" name="Text 10"/>
          <p:cNvSpPr/>
          <p:nvPr/>
        </p:nvSpPr>
        <p:spPr>
          <a:xfrm>
            <a:off x="5925693" y="1119030"/>
            <a:ext cx="2798064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+1-3% Distance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925693" y="1477111"/>
            <a:ext cx="2798064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spcBef>
                <a:spcPts val="300"/>
              </a:spcBef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Up to 20% Safer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800725" y="1930441"/>
            <a:ext cx="3048000" cy="1034207"/>
          </a:xfrm>
          <a:prstGeom prst="roundRect">
            <a:avLst>
              <a:gd name="adj" fmla="val 5376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5953125" y="2006641"/>
            <a:ext cx="2798064" cy="10496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260"/>
              </a:lnSpc>
              <a:spcAft>
                <a:spcPts val="900"/>
              </a:spcAft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 COMPARISON</a:t>
            </a:r>
          </a:p>
          <a:p>
            <a:pPr>
              <a:lnSpc>
                <a:spcPts val="1260"/>
              </a:lnSpc>
              <a:spcAft>
                <a:spcPts val="900"/>
              </a:spcAft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 routes analyzed between key Philadelphia locations: City Hall, Temple University, 30th Street Station, University City, Chinatown, and major transit hubs.</a:t>
            </a:r>
          </a:p>
          <a:p>
            <a:pPr marL="0" indent="0" algn="l">
              <a:lnSpc>
                <a:spcPts val="1260"/>
              </a:lnSpc>
              <a:spcAft>
                <a:spcPts val="900"/>
              </a:spcAft>
              <a:buNone/>
            </a:pP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800725" y="3132526"/>
            <a:ext cx="3048000" cy="889546"/>
          </a:xfrm>
          <a:prstGeom prst="roundRect">
            <a:avLst>
              <a:gd name="adj" fmla="val 8566"/>
            </a:avLst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5934075" y="3265876"/>
            <a:ext cx="283692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155"/>
              </a:lnSpc>
              <a:spcAft>
                <a:spcPts val="600"/>
              </a:spcAft>
            </a:pPr>
            <a:r>
              <a:rPr lang="en-US" sz="825" dirty="0" err="1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Methods:ArcGIS</a:t>
            </a: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Distance Accumulation + Optimal Path </a:t>
            </a:r>
          </a:p>
          <a:p>
            <a:pPr>
              <a:lnSpc>
                <a:spcPts val="1155"/>
              </a:lnSpc>
              <a:spcAft>
                <a:spcPts val="600"/>
              </a:spcAft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Python: </a:t>
            </a:r>
            <a:r>
              <a:rPr lang="en-US" sz="825" dirty="0" err="1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OSMnx</a:t>
            </a: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 </a:t>
            </a:r>
            <a:r>
              <a:rPr lang="en-US" sz="825" dirty="0" err="1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NetworkX</a:t>
            </a: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for 52 street-level routes with risk-weighted edges</a:t>
            </a:r>
            <a:endParaRPr lang="en-US" sz="825" dirty="0"/>
          </a:p>
        </p:txBody>
      </p:sp>
      <p:sp>
        <p:nvSpPr>
          <p:cNvPr id="18" name="Text 16"/>
          <p:cNvSpPr/>
          <p:nvPr/>
        </p:nvSpPr>
        <p:spPr>
          <a:xfrm>
            <a:off x="5800725" y="4136372"/>
            <a:ext cx="3048000" cy="388590"/>
          </a:xfrm>
          <a:prstGeom prst="roundRect">
            <a:avLst>
              <a:gd name="adj" fmla="val 19609"/>
            </a:avLst>
          </a:prstGeom>
          <a:solidFill>
            <a:srgbClr val="F59E0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5945363" y="4250672"/>
            <a:ext cx="287578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Chinatown route shows greatest risk reduction</a:t>
            </a:r>
            <a:endParaRPr lang="en-US" sz="900" dirty="0"/>
          </a:p>
        </p:txBody>
      </p:sp>
      <p:pic>
        <p:nvPicPr>
          <p:cNvPr id="24" name="图片 23">
            <a:extLst>
              <a:ext uri="{FF2B5EF4-FFF2-40B4-BE49-F238E27FC236}">
                <a16:creationId xmlns:a16="http://schemas.microsoft.com/office/drawing/2014/main" id="{88C9E6A1-5C94-788B-8BFC-0251C18A778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679" t="6947" r="6878" b="15471"/>
          <a:stretch>
            <a:fillRect/>
          </a:stretch>
        </p:blipFill>
        <p:spPr>
          <a:xfrm>
            <a:off x="420243" y="1110180"/>
            <a:ext cx="5171319" cy="2923139"/>
          </a:xfrm>
          <a:prstGeom prst="rect">
            <a:avLst/>
          </a:prstGeom>
        </p:spPr>
      </p:pic>
      <p:sp>
        <p:nvSpPr>
          <p:cNvPr id="25" name="文本框 24">
            <a:extLst>
              <a:ext uri="{FF2B5EF4-FFF2-40B4-BE49-F238E27FC236}">
                <a16:creationId xmlns:a16="http://schemas.microsoft.com/office/drawing/2014/main" id="{7CD2A96B-531C-0915-09E0-5A43633DC37D}"/>
              </a:ext>
            </a:extLst>
          </p:cNvPr>
          <p:cNvSpPr txBox="1"/>
          <p:nvPr/>
        </p:nvSpPr>
        <p:spPr>
          <a:xfrm>
            <a:off x="632510" y="4124712"/>
            <a:ext cx="4746784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900" dirty="0">
                <a:solidFill>
                  <a:schemeClr val="bg1"/>
                </a:solidFill>
              </a:rPr>
              <a:t>ArcGIS Distance Accumulation calculated cost-distance surface from City Hall. Optimal Path tool generated lowest-cost route to Temple. However, raster-based paths cut through buildings, so Python </a:t>
            </a:r>
            <a:r>
              <a:rPr lang="en-US" altLang="zh-CN" sz="900" dirty="0" err="1">
                <a:solidFill>
                  <a:schemeClr val="bg1"/>
                </a:solidFill>
              </a:rPr>
              <a:t>OSMnx</a:t>
            </a:r>
            <a:r>
              <a:rPr lang="en-US" altLang="zh-CN" sz="900" dirty="0">
                <a:solidFill>
                  <a:schemeClr val="bg1"/>
                </a:solidFill>
              </a:rPr>
              <a:t> was used for realistic street network routing with 52 origin-destination pairs.</a:t>
            </a:r>
            <a:endParaRPr lang="zh-CN" altLang="en-US" sz="900" dirty="0">
              <a:solidFill>
                <a:schemeClr val="bg1"/>
              </a:solidFill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40E1F059-4276-677D-5359-3CA3CAB6C4FD}"/>
              </a:ext>
            </a:extLst>
          </p:cNvPr>
          <p:cNvSpPr txBox="1"/>
          <p:nvPr/>
        </p:nvSpPr>
        <p:spPr>
          <a:xfrm>
            <a:off x="381000" y="648770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chemeClr val="accent2"/>
                </a:solidFill>
              </a:rPr>
              <a:t>Finding Safer Alternatives</a:t>
            </a:r>
            <a:endParaRPr lang="zh-CN" altLang="en-US" dirty="0">
              <a:solidFill>
                <a:schemeClr val="accent2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28599"/>
            <a:ext cx="5638800" cy="3873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700"/>
              </a:lnSpc>
            </a:pPr>
            <a:r>
              <a:rPr lang="en-US" sz="27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Finding: Complaint</a:t>
            </a:r>
            <a:r>
              <a:rPr lang="en-US" altLang="zh-CN" sz="27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Gap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2416949" y="3719154"/>
            <a:ext cx="1224001" cy="1909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complaint_gap_areas.shp</a:t>
            </a:r>
            <a:endParaRPr lang="en-US" sz="825" dirty="0"/>
          </a:p>
        </p:txBody>
      </p:sp>
      <p:sp>
        <p:nvSpPr>
          <p:cNvPr id="7" name="Text 5"/>
          <p:cNvSpPr/>
          <p:nvPr/>
        </p:nvSpPr>
        <p:spPr>
          <a:xfrm>
            <a:off x="5797159" y="470061"/>
            <a:ext cx="2857500" cy="1156097"/>
          </a:xfrm>
          <a:prstGeom prst="roundRect">
            <a:avLst>
              <a:gd name="adj" fmla="val 6591"/>
            </a:avLst>
          </a:prstGeom>
          <a:solidFill>
            <a:srgbClr val="EF444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924032" y="622461"/>
            <a:ext cx="2603754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04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62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5924032" y="1300522"/>
            <a:ext cx="2603754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65"/>
              </a:lnSpc>
              <a:spcBef>
                <a:spcPts val="300"/>
              </a:spcBef>
              <a:buNone/>
            </a:pPr>
            <a:r>
              <a:rPr lang="en-US" sz="975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Underserved Areas Identified</a:t>
            </a:r>
            <a:endParaRPr lang="en-US" sz="975" dirty="0"/>
          </a:p>
        </p:txBody>
      </p:sp>
      <p:sp>
        <p:nvSpPr>
          <p:cNvPr id="10" name="Text 8"/>
          <p:cNvSpPr/>
          <p:nvPr/>
        </p:nvSpPr>
        <p:spPr>
          <a:xfrm>
            <a:off x="5797159" y="1721409"/>
            <a:ext cx="2857500" cy="776950"/>
          </a:xfrm>
          <a:prstGeom prst="roundRect">
            <a:avLst>
              <a:gd name="adj" fmla="val 6452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5911459" y="1775032"/>
            <a:ext cx="2681478" cy="556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050"/>
              </a:lnSpc>
              <a:spcAft>
                <a:spcPts val="600"/>
              </a:spcAft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GAP AREA CHARACTERISTICS</a:t>
            </a:r>
          </a:p>
          <a:p>
            <a:pPr>
              <a:lnSpc>
                <a:spcPts val="1050"/>
              </a:lnSpc>
              <a:spcAft>
                <a:spcPts val="600"/>
              </a:spcAft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criteria overlap: Low brightness (VIIRS), Low complaints (311), Low income (Census). Identified with Python spatial analysis on </a:t>
            </a:r>
            <a:r>
              <a:rPr lang="en-US" sz="750" dirty="0" err="1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Zonal_VIIRS_Mean</a:t>
            </a: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output.</a:t>
            </a:r>
          </a:p>
          <a:p>
            <a:pPr>
              <a:lnSpc>
                <a:spcPts val="1050"/>
              </a:lnSpc>
              <a:spcAft>
                <a:spcPts val="600"/>
              </a:spcAft>
            </a:pP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5797159" y="2551982"/>
            <a:ext cx="2857500" cy="1354223"/>
          </a:xfrm>
          <a:prstGeom prst="roundRect">
            <a:avLst>
              <a:gd name="adj" fmla="val 8000"/>
            </a:avLst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5924032" y="2589085"/>
            <a:ext cx="2720340" cy="1293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050"/>
              </a:lnSpc>
              <a:spcAft>
                <a:spcPts val="450"/>
              </a:spcAft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Gap vs Non-Gap Comparison:</a:t>
            </a:r>
          </a:p>
          <a:p>
            <a:pPr>
              <a:lnSpc>
                <a:spcPts val="1050"/>
              </a:lnSpc>
              <a:spcAft>
                <a:spcPts val="450"/>
              </a:spcAft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Gap areas: 38% lower income, 65% darker, 76% fewer complaints than city average.</a:t>
            </a:r>
          </a:p>
          <a:p>
            <a:pPr>
              <a:lnSpc>
                <a:spcPts val="1050"/>
              </a:lnSpc>
              <a:spcAft>
                <a:spcPts val="450"/>
              </a:spcAft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                          Gap Areas          Non-Gap</a:t>
            </a:r>
          </a:p>
          <a:p>
            <a:pPr>
              <a:lnSpc>
                <a:spcPts val="1050"/>
              </a:lnSpc>
              <a:spcAft>
                <a:spcPts val="450"/>
              </a:spcAft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Income                   $42,800            $67,200</a:t>
            </a:r>
          </a:p>
          <a:p>
            <a:pPr>
              <a:lnSpc>
                <a:spcPts val="1050"/>
              </a:lnSpc>
              <a:spcAft>
                <a:spcPts val="450"/>
              </a:spcAft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VIIRS                           0.31                 0.89</a:t>
            </a:r>
          </a:p>
          <a:p>
            <a:pPr>
              <a:lnSpc>
                <a:spcPts val="1050"/>
              </a:lnSpc>
              <a:spcAft>
                <a:spcPts val="450"/>
              </a:spcAft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311 Complaints/km²               2.1                   8.7</a:t>
            </a:r>
            <a:endParaRPr lang="en-US" sz="750" dirty="0"/>
          </a:p>
        </p:txBody>
      </p:sp>
      <p:pic>
        <p:nvPicPr>
          <p:cNvPr id="14" name="Image 0" descr="/tmp/rasterized-gradient-3fa95c2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7159" y="4045508"/>
            <a:ext cx="2857500" cy="337096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5865739" y="4140758"/>
            <a:ext cx="27203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These areas need PROACTIVE intervention</a:t>
            </a:r>
            <a:endParaRPr lang="en-US" sz="825" dirty="0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AD315AF6-AEC6-5319-D3A4-14C8BB28AD95}"/>
              </a:ext>
            </a:extLst>
          </p:cNvPr>
          <p:cNvSpPr txBox="1"/>
          <p:nvPr/>
        </p:nvSpPr>
        <p:spPr>
          <a:xfrm>
            <a:off x="957736" y="4313339"/>
            <a:ext cx="437734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altLang="zh-CN" sz="900" dirty="0">
                <a:solidFill>
                  <a:schemeClr val="bg1"/>
                </a:solidFill>
              </a:rPr>
              <a:t>62 Complaint Gap areas identified where three conditions overlap: </a:t>
            </a:r>
          </a:p>
          <a:p>
            <a:pPr marL="0" indent="0" algn="ctr">
              <a:buNone/>
            </a:pPr>
            <a:r>
              <a:rPr lang="en-US" altLang="zh-CN" sz="900" dirty="0">
                <a:solidFill>
                  <a:schemeClr val="bg1"/>
                </a:solidFill>
              </a:rPr>
              <a:t>objectively dark (low VIIRS brightness), low 311 complaint rates, </a:t>
            </a:r>
          </a:p>
          <a:p>
            <a:pPr marL="0" indent="0" algn="ctr">
              <a:buNone/>
            </a:pPr>
            <a:r>
              <a:rPr lang="en-US" altLang="zh-CN" sz="900" dirty="0">
                <a:solidFill>
                  <a:schemeClr val="bg1"/>
                </a:solidFill>
              </a:rPr>
              <a:t>and below-median household income. These underserved communities need proactive maintenance rather than reactive complaint-based service.</a:t>
            </a:r>
          </a:p>
        </p:txBody>
      </p:sp>
      <p:pic>
        <p:nvPicPr>
          <p:cNvPr id="20" name="图片 19">
            <a:extLst>
              <a:ext uri="{FF2B5EF4-FFF2-40B4-BE49-F238E27FC236}">
                <a16:creationId xmlns:a16="http://schemas.microsoft.com/office/drawing/2014/main" id="{A0E25D9C-4801-5C25-3432-DA57F2B473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7142" y="783722"/>
            <a:ext cx="4123575" cy="3508943"/>
          </a:xfrm>
          <a:prstGeom prst="rect">
            <a:avLst/>
          </a:prstGeom>
        </p:spPr>
      </p:pic>
      <p:sp>
        <p:nvSpPr>
          <p:cNvPr id="24" name="文本框 23">
            <a:extLst>
              <a:ext uri="{FF2B5EF4-FFF2-40B4-BE49-F238E27FC236}">
                <a16:creationId xmlns:a16="http://schemas.microsoft.com/office/drawing/2014/main" id="{4A4FC22C-7B1F-B198-7346-DC1C8DA072B3}"/>
              </a:ext>
            </a:extLst>
          </p:cNvPr>
          <p:cNvSpPr txBox="1"/>
          <p:nvPr/>
        </p:nvSpPr>
        <p:spPr>
          <a:xfrm>
            <a:off x="5739919" y="4363938"/>
            <a:ext cx="321340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800" dirty="0">
                <a:solidFill>
                  <a:schemeClr val="bg1">
                    <a:lumMod val="95000"/>
                  </a:schemeClr>
                </a:solidFill>
              </a:rPr>
              <a:t>Our data shows a paradox: the darkest areas file 76% fewer complaints. These are also the lowest-income neighborhoods. This means the 311 system systematically misses the communities that need help most.</a:t>
            </a:r>
            <a:endParaRPr lang="zh-CN" altLang="en-US" sz="800" dirty="0">
              <a:solidFill>
                <a:schemeClr val="bg1">
                  <a:lumMod val="95000"/>
                </a:schemeClr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1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11"/>
          <p:cNvSpPr/>
          <p:nvPr/>
        </p:nvSpPr>
        <p:spPr>
          <a:xfrm>
            <a:off x="5038980" y="1735010"/>
            <a:ext cx="2857500" cy="1264741"/>
          </a:xfrm>
          <a:prstGeom prst="roundRect">
            <a:avLst>
              <a:gd name="adj" fmla="val 6025"/>
            </a:avLst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" name="Text 0"/>
          <p:cNvSpPr/>
          <p:nvPr/>
        </p:nvSpPr>
        <p:spPr>
          <a:xfrm>
            <a:off x="733122" y="-408231"/>
            <a:ext cx="522858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7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Temporal Trend Analysis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5038980" y="584421"/>
            <a:ext cx="1371600" cy="1036290"/>
          </a:xfrm>
          <a:prstGeom prst="roundRect">
            <a:avLst>
              <a:gd name="adj" fmla="val 7353"/>
            </a:avLst>
          </a:prstGeom>
          <a:solidFill>
            <a:srgbClr val="3B82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180712" y="736821"/>
            <a:ext cx="1088136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399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180712" y="1201611"/>
            <a:ext cx="108813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5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Areas Showing</a:t>
            </a:r>
            <a:endParaRPr lang="en-US" sz="750" dirty="0"/>
          </a:p>
          <a:p>
            <a:pPr marL="0" indent="0" algn="ctr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5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Darkening Trend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6524880" y="584421"/>
            <a:ext cx="1371600" cy="1036290"/>
          </a:xfrm>
          <a:prstGeom prst="roundRect">
            <a:avLst>
              <a:gd name="adj" fmla="val 7353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666612" y="736821"/>
            <a:ext cx="1088136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31.1%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6666612" y="1201611"/>
            <a:ext cx="108813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Philadelphia</a:t>
            </a:r>
            <a:endParaRPr lang="en-US" sz="750" dirty="0"/>
          </a:p>
          <a:p>
            <a:pPr marL="0" indent="0" algn="ctr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Darkening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5191380" y="1794881"/>
            <a:ext cx="2603754" cy="11745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155"/>
              </a:lnSpc>
              <a:spcAft>
                <a:spcPts val="750"/>
              </a:spcAft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TREND ANALYSIS</a:t>
            </a:r>
          </a:p>
          <a:p>
            <a:pPr>
              <a:lnSpc>
                <a:spcPts val="1155"/>
              </a:lnSpc>
              <a:spcAft>
                <a:spcPts val="750"/>
              </a:spcAft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Linear Regression Slope</a:t>
            </a:r>
          </a:p>
          <a:p>
            <a:pPr>
              <a:lnSpc>
                <a:spcPts val="1155"/>
              </a:lnSpc>
              <a:spcAft>
                <a:spcPts val="750"/>
              </a:spcAft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2022-2024 VIIRS Data</a:t>
            </a:r>
          </a:p>
          <a:p>
            <a:pPr>
              <a:lnSpc>
                <a:spcPts val="1155"/>
              </a:lnSpc>
              <a:spcAft>
                <a:spcPts val="750"/>
              </a:spcAft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scipy.stats (Python)</a:t>
            </a:r>
          </a:p>
          <a:p>
            <a:pPr>
              <a:lnSpc>
                <a:spcPts val="1155"/>
              </a:lnSpc>
              <a:spcAft>
                <a:spcPts val="750"/>
              </a:spcAft>
            </a:pPr>
            <a:r>
              <a:rPr lang="en-US" sz="825" dirty="0" err="1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geopandas</a:t>
            </a: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for spatial analysis</a:t>
            </a:r>
          </a:p>
          <a:p>
            <a:pPr marL="0" indent="0" algn="l">
              <a:lnSpc>
                <a:spcPts val="1155"/>
              </a:lnSpc>
              <a:spcAft>
                <a:spcPts val="750"/>
              </a:spcAft>
              <a:buNone/>
            </a:pPr>
            <a:endParaRPr lang="en-US" sz="825" dirty="0"/>
          </a:p>
        </p:txBody>
      </p:sp>
      <p:sp>
        <p:nvSpPr>
          <p:cNvPr id="19" name="Text 16"/>
          <p:cNvSpPr/>
          <p:nvPr/>
        </p:nvSpPr>
        <p:spPr>
          <a:xfrm>
            <a:off x="5038980" y="3114053"/>
            <a:ext cx="2857500" cy="975271"/>
          </a:xfrm>
          <a:prstGeom prst="roundRect">
            <a:avLst>
              <a:gd name="adj" fmla="val 7813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7"/>
          <p:cNvSpPr/>
          <p:nvPr/>
        </p:nvSpPr>
        <p:spPr>
          <a:xfrm>
            <a:off x="5172330" y="3247403"/>
            <a:ext cx="2642616" cy="7706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155"/>
              </a:lnSpc>
              <a:spcAft>
                <a:spcPts val="600"/>
              </a:spcAft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Trend Categories</a:t>
            </a:r>
          </a:p>
          <a:p>
            <a:pPr>
              <a:lnSpc>
                <a:spcPts val="1155"/>
              </a:lnSpc>
              <a:spcAft>
                <a:spcPts val="600"/>
              </a:spcAft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Darkening Fast: 112 (8.7%)   - Darkening: 287 (22.4%)</a:t>
            </a:r>
          </a:p>
          <a:p>
            <a:pPr>
              <a:lnSpc>
                <a:spcPts val="1155"/>
              </a:lnSpc>
              <a:spcAft>
                <a:spcPts val="600"/>
              </a:spcAft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Stable: 636 (49.6%)  - Brightening: 248 (19.3%)</a:t>
            </a:r>
            <a:endParaRPr lang="en-US" sz="825" dirty="0"/>
          </a:p>
        </p:txBody>
      </p:sp>
      <p:sp>
        <p:nvSpPr>
          <p:cNvPr id="21" name="Text 18"/>
          <p:cNvSpPr/>
          <p:nvPr/>
        </p:nvSpPr>
        <p:spPr>
          <a:xfrm>
            <a:off x="5038980" y="4203623"/>
            <a:ext cx="2857500" cy="388590"/>
          </a:xfrm>
          <a:prstGeom prst="roundRect">
            <a:avLst>
              <a:gd name="adj" fmla="val 19609"/>
            </a:avLst>
          </a:prstGeom>
          <a:solidFill>
            <a:srgbClr val="EF444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19"/>
          <p:cNvSpPr/>
          <p:nvPr/>
        </p:nvSpPr>
        <p:spPr>
          <a:xfrm>
            <a:off x="5126991" y="4317923"/>
            <a:ext cx="268147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Philadelphia lighting is </a:t>
            </a: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declining citywide</a:t>
            </a:r>
            <a:endParaRPr lang="en-US" sz="900" dirty="0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CF46F27D-3E42-E1C8-64B0-FCDEA8320182}"/>
              </a:ext>
            </a:extLst>
          </p:cNvPr>
          <p:cNvSpPr txBox="1"/>
          <p:nvPr/>
        </p:nvSpPr>
        <p:spPr>
          <a:xfrm>
            <a:off x="380999" y="4607315"/>
            <a:ext cx="4572000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900" dirty="0">
                <a:solidFill>
                  <a:schemeClr val="bg1"/>
                </a:solidFill>
              </a:rPr>
              <a:t>Temporal trend analysis using linear regression on VIIRS data (2022-2024) identified 399 block groups showing declining brightness. 31.1% of Philadelphia block groups are experiencing darkening trends. Priority intervention needed for areas with fastest decline.</a:t>
            </a:r>
            <a:endParaRPr lang="zh-CN" altLang="en-US" sz="900" dirty="0">
              <a:solidFill>
                <a:schemeClr val="bg1"/>
              </a:solidFill>
            </a:endParaRPr>
          </a:p>
        </p:txBody>
      </p:sp>
      <p:pic>
        <p:nvPicPr>
          <p:cNvPr id="4" name="图片 3" descr="地图&#10;&#10;AI 生成的内容可能不正确。">
            <a:extLst>
              <a:ext uri="{FF2B5EF4-FFF2-40B4-BE49-F238E27FC236}">
                <a16:creationId xmlns:a16="http://schemas.microsoft.com/office/drawing/2014/main" id="{0D594764-074D-EB96-BDEB-211A7748DC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425" y="529974"/>
            <a:ext cx="4532574" cy="2404733"/>
          </a:xfrm>
          <a:prstGeom prst="rect">
            <a:avLst/>
          </a:prstGeom>
        </p:spPr>
      </p:pic>
      <p:pic>
        <p:nvPicPr>
          <p:cNvPr id="15" name="图片 14" descr="图表, 直方图&#10;&#10;AI 生成的内容可能不正确。">
            <a:extLst>
              <a:ext uri="{FF2B5EF4-FFF2-40B4-BE49-F238E27FC236}">
                <a16:creationId xmlns:a16="http://schemas.microsoft.com/office/drawing/2014/main" id="{1917444A-14CE-A110-7B24-8CFE2F568F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0425" y="2934707"/>
            <a:ext cx="4532574" cy="170102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1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28600"/>
            <a:ext cx="428453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7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Policy Recommendations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3076156" y="2494169"/>
            <a:ext cx="2769989" cy="639961"/>
          </a:xfrm>
          <a:prstGeom prst="roundRect">
            <a:avLst>
              <a:gd name="adj" fmla="val 11907"/>
            </a:avLst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333986" y="2637937"/>
            <a:ext cx="90475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REACTIVE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3333986" y="2843617"/>
            <a:ext cx="90475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Wait for complaints</a:t>
            </a:r>
            <a:endParaRPr lang="en-US" sz="825" dirty="0"/>
          </a:p>
        </p:txBody>
      </p:sp>
      <p:sp>
        <p:nvSpPr>
          <p:cNvPr id="6" name="Text 4"/>
          <p:cNvSpPr/>
          <p:nvPr/>
        </p:nvSpPr>
        <p:spPr>
          <a:xfrm>
            <a:off x="4382272" y="2627519"/>
            <a:ext cx="272034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40"/>
              </a:lnSpc>
              <a:buNone/>
            </a:pPr>
            <a:r>
              <a:rPr lang="en-US" sz="21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4793591" y="2637937"/>
            <a:ext cx="793635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PROACTIVE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793591" y="2843617"/>
            <a:ext cx="79363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Satellite-driven</a:t>
            </a:r>
            <a:endParaRPr lang="en-US" sz="825" dirty="0"/>
          </a:p>
        </p:txBody>
      </p:sp>
      <p:sp>
        <p:nvSpPr>
          <p:cNvPr id="9" name="Text 7"/>
          <p:cNvSpPr/>
          <p:nvPr/>
        </p:nvSpPr>
        <p:spPr>
          <a:xfrm>
            <a:off x="305694" y="3324630"/>
            <a:ext cx="1981200" cy="1313637"/>
          </a:xfrm>
          <a:prstGeom prst="roundRect">
            <a:avLst>
              <a:gd name="adj" fmla="val 3846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96194" y="3432462"/>
            <a:ext cx="1632204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Priority Areas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96194" y="3847692"/>
            <a:ext cx="16322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Focus maintenance on the </a:t>
            </a:r>
            <a:r>
              <a:rPr lang="en-US" sz="9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62 Complaint Gap</a:t>
            </a: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areas first — these communities are underserved.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439294" y="3324630"/>
            <a:ext cx="1981200" cy="1313637"/>
          </a:xfrm>
          <a:prstGeom prst="roundRect">
            <a:avLst>
              <a:gd name="adj" fmla="val 3907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2629794" y="3518187"/>
            <a:ext cx="1632204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Satellite Monitoring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2629794" y="3933417"/>
            <a:ext cx="1632204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VIIRS data to </a:t>
            </a:r>
            <a:r>
              <a:rPr lang="en-US" sz="9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 311</a:t>
            </a: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system — don't rely solely on complaints.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572894" y="3324630"/>
            <a:ext cx="1981200" cy="1313637"/>
          </a:xfrm>
          <a:prstGeom prst="roundRect">
            <a:avLst>
              <a:gd name="adj" fmla="val 3907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4763394" y="3518187"/>
            <a:ext cx="1632204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Equity Dashboard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763394" y="3933417"/>
            <a:ext cx="1632204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a </a:t>
            </a:r>
            <a:r>
              <a:rPr lang="en-US" sz="9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monitoring dashboard</a:t>
            </a: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tracking lighting equity across neighborhoods.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706494" y="3324630"/>
            <a:ext cx="1981200" cy="1313637"/>
          </a:xfrm>
          <a:prstGeom prst="roundRect">
            <a:avLst>
              <a:gd name="adj" fmla="val 3907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6896994" y="3518187"/>
            <a:ext cx="1632204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Predictive Maintenance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896994" y="3933417"/>
            <a:ext cx="1632204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 resources to </a:t>
            </a:r>
            <a:r>
              <a:rPr lang="en-US" sz="9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399 darkening</a:t>
            </a: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darkening areas before they fail.</a:t>
            </a:r>
            <a:endParaRPr lang="en-US" sz="900" dirty="0"/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5F992D76-4DB9-7A31-6C98-C44B136A0F90}"/>
              </a:ext>
            </a:extLst>
          </p:cNvPr>
          <p:cNvSpPr txBox="1"/>
          <p:nvPr/>
        </p:nvSpPr>
        <p:spPr>
          <a:xfrm>
            <a:off x="305694" y="918140"/>
            <a:ext cx="3837275" cy="14311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900" dirty="0">
                <a:solidFill>
                  <a:schemeClr val="bg1">
                    <a:lumMod val="95000"/>
                  </a:schemeClr>
                </a:solidFill>
              </a:rPr>
              <a:t>399 areas showing darkening trend. </a:t>
            </a:r>
            <a:endParaRPr lang="en-US" altLang="zh-CN" sz="900" dirty="0">
              <a:solidFill>
                <a:schemeClr val="bg1">
                  <a:lumMod val="95000"/>
                </a:schemeClr>
              </a:solidFill>
            </a:endParaRPr>
          </a:p>
          <a:p>
            <a:r>
              <a:rPr lang="zh-CN" altLang="en-US" sz="900" dirty="0">
                <a:solidFill>
                  <a:schemeClr val="bg1">
                    <a:lumMod val="95000"/>
                  </a:schemeClr>
                </a:solidFill>
              </a:rPr>
              <a:t>31% of Philadelphia experiencing decline.</a:t>
            </a:r>
            <a:r>
              <a:rPr lang="en-US" altLang="zh-CN" sz="900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zh-CN" altLang="en-US" sz="900" dirty="0">
                <a:solidFill>
                  <a:schemeClr val="bg1">
                    <a:lumMod val="95000"/>
                  </a:schemeClr>
                </a:solidFill>
              </a:rPr>
              <a:t>Act before failure.</a:t>
            </a:r>
            <a:endParaRPr lang="en-US" altLang="zh-CN" sz="900" dirty="0">
              <a:solidFill>
                <a:schemeClr val="bg1">
                  <a:lumMod val="95000"/>
                </a:schemeClr>
              </a:solidFill>
            </a:endParaRPr>
          </a:p>
          <a:p>
            <a:endParaRPr lang="en-US" altLang="zh-CN" sz="900" dirty="0">
              <a:solidFill>
                <a:schemeClr val="bg1">
                  <a:lumMod val="95000"/>
                </a:schemeClr>
              </a:solidFill>
            </a:endParaRPr>
          </a:p>
          <a:p>
            <a:r>
              <a:rPr lang="en-US" altLang="zh-CN" sz="1200" dirty="0">
                <a:solidFill>
                  <a:schemeClr val="bg1">
                    <a:lumMod val="95000"/>
                  </a:schemeClr>
                </a:solidFill>
              </a:rPr>
              <a:t>Philadelphia's 1970s streetlights are reaching end-of-life. Our 2022-2024 analysis captures peak infrastructure decline — just before the $91M LED project (Aug 2023). With research showing lighting improvements reduce crime by 21%, proactive monitoring is essential.</a:t>
            </a:r>
            <a:endParaRPr lang="zh-CN" altLang="en-US" sz="1200" dirty="0">
              <a:solidFill>
                <a:schemeClr val="bg1">
                  <a:lumMod val="95000"/>
                </a:schemeClr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1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28600"/>
            <a:ext cx="428453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7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</a:t>
            </a:r>
            <a:endParaRPr lang="en-US" sz="2700" dirty="0"/>
          </a:p>
        </p:txBody>
      </p:sp>
      <p:pic>
        <p:nvPicPr>
          <p:cNvPr id="3" name="Image 0" descr="/tmp/rasterized-gradient-d78b840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840135"/>
            <a:ext cx="5105400" cy="1066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09600" y="1030635"/>
            <a:ext cx="478002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25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analysis reveals </a:t>
            </a:r>
            <a:r>
              <a:rPr lang="en-US" sz="1125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systemic lighting inequality</a:t>
            </a:r>
            <a:r>
              <a:rPr lang="en-US" sz="1125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Philadelphia. Communities that need light the most are least likely to report problems — creating a gap that perpetuates inequity.</a:t>
            </a:r>
            <a:endParaRPr lang="en-US" sz="1125" dirty="0"/>
          </a:p>
        </p:txBody>
      </p:sp>
      <p:sp>
        <p:nvSpPr>
          <p:cNvPr id="5" name="Text 2"/>
          <p:cNvSpPr/>
          <p:nvPr/>
        </p:nvSpPr>
        <p:spPr>
          <a:xfrm>
            <a:off x="381000" y="2059335"/>
            <a:ext cx="5105400" cy="1226790"/>
          </a:xfrm>
          <a:prstGeom prst="roundRect">
            <a:avLst>
              <a:gd name="adj" fmla="val 6211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533400" y="2211735"/>
            <a:ext cx="489661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750"/>
              </a:spcAft>
              <a:buNone/>
            </a:pPr>
            <a:r>
              <a:rPr lang="en-US" sz="900" dirty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LIMITATIONS</a:t>
            </a:r>
          </a:p>
          <a:p>
            <a:pPr>
              <a:lnSpc>
                <a:spcPts val="1260"/>
              </a:lnSpc>
              <a:spcAft>
                <a:spcPts val="750"/>
              </a:spcAft>
            </a:pPr>
            <a:r>
              <a:rPr lang="en-US" sz="900" dirty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- VIIRS resolution (500m) may miss localized outages</a:t>
            </a:r>
          </a:p>
          <a:p>
            <a:pPr>
              <a:lnSpc>
                <a:spcPts val="1260"/>
              </a:lnSpc>
              <a:spcAft>
                <a:spcPts val="750"/>
              </a:spcAft>
            </a:pPr>
            <a:r>
              <a:rPr lang="en-US" sz="900" dirty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- 311 data reflects reporting behavior, not actual conditions</a:t>
            </a:r>
          </a:p>
          <a:p>
            <a:pPr>
              <a:lnSpc>
                <a:spcPts val="1260"/>
              </a:lnSpc>
              <a:spcAft>
                <a:spcPts val="750"/>
              </a:spcAft>
            </a:pPr>
            <a:r>
              <a:rPr lang="en-US" sz="900" dirty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- Cross-sectional analysis; causation not established</a:t>
            </a:r>
          </a:p>
        </p:txBody>
      </p:sp>
      <p:sp>
        <p:nvSpPr>
          <p:cNvPr id="7" name="Text 4"/>
          <p:cNvSpPr/>
          <p:nvPr/>
        </p:nvSpPr>
        <p:spPr>
          <a:xfrm>
            <a:off x="381000" y="3438525"/>
            <a:ext cx="5105400" cy="1226790"/>
          </a:xfrm>
          <a:prstGeom prst="roundRect">
            <a:avLst>
              <a:gd name="adj" fmla="val 6211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533400" y="3590925"/>
            <a:ext cx="489661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750"/>
              </a:spcAft>
              <a:buNone/>
            </a:pPr>
            <a:r>
              <a:rPr lang="en-US" sz="900" dirty="0">
                <a:solidFill>
                  <a:schemeClr val="bg1">
                    <a:lumMod val="9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WORK</a:t>
            </a:r>
          </a:p>
          <a:p>
            <a:pPr>
              <a:lnSpc>
                <a:spcPts val="1260"/>
              </a:lnSpc>
              <a:spcAft>
                <a:spcPts val="750"/>
              </a:spcAft>
            </a:pPr>
            <a:r>
              <a:rPr lang="en-US" sz="900" dirty="0">
                <a:solidFill>
                  <a:schemeClr val="bg1">
                    <a:lumMod val="9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- Integrate real-time 311 monitoring</a:t>
            </a:r>
          </a:p>
          <a:p>
            <a:pPr>
              <a:lnSpc>
                <a:spcPts val="1260"/>
              </a:lnSpc>
              <a:spcAft>
                <a:spcPts val="750"/>
              </a:spcAft>
            </a:pPr>
            <a:r>
              <a:rPr lang="en-US" sz="900" dirty="0">
                <a:solidFill>
                  <a:schemeClr val="bg1">
                    <a:lumMod val="9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- Field validation of Gap areas</a:t>
            </a:r>
          </a:p>
          <a:p>
            <a:pPr>
              <a:lnSpc>
                <a:spcPts val="1260"/>
              </a:lnSpc>
              <a:spcAft>
                <a:spcPts val="750"/>
              </a:spcAft>
            </a:pPr>
            <a:r>
              <a:rPr lang="en-US" sz="900" dirty="0">
                <a:solidFill>
                  <a:schemeClr val="bg1">
                    <a:lumMod val="9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- Expand to other cities</a:t>
            </a:r>
          </a:p>
        </p:txBody>
      </p:sp>
      <p:sp>
        <p:nvSpPr>
          <p:cNvPr id="9" name="Text 6"/>
          <p:cNvSpPr/>
          <p:nvPr/>
        </p:nvSpPr>
        <p:spPr>
          <a:xfrm>
            <a:off x="5715000" y="840135"/>
            <a:ext cx="3048000" cy="1448767"/>
          </a:xfrm>
          <a:prstGeom prst="roundRect">
            <a:avLst>
              <a:gd name="adj" fmla="val 4614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5867400" y="992535"/>
            <a:ext cx="279806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155"/>
              </a:lnSpc>
              <a:spcAft>
                <a:spcPts val="900"/>
              </a:spcAft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NUMBERS</a:t>
            </a:r>
          </a:p>
          <a:p>
            <a:pPr>
              <a:lnSpc>
                <a:spcPts val="1155"/>
              </a:lnSpc>
              <a:spcAft>
                <a:spcPts val="900"/>
              </a:spcAft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62 Complaint Gap areas</a:t>
            </a:r>
          </a:p>
          <a:p>
            <a:pPr>
              <a:lnSpc>
                <a:spcPts val="1155"/>
              </a:lnSpc>
              <a:spcAft>
                <a:spcPts val="900"/>
              </a:spcAft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399 Areas darkening (31.1%)</a:t>
            </a:r>
          </a:p>
          <a:p>
            <a:pPr>
              <a:lnSpc>
                <a:spcPts val="1155"/>
              </a:lnSpc>
              <a:spcAft>
                <a:spcPts val="900"/>
              </a:spcAft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112 Darkening Fast</a:t>
            </a:r>
          </a:p>
          <a:p>
            <a:pPr>
              <a:lnSpc>
                <a:spcPts val="1155"/>
              </a:lnSpc>
              <a:spcAft>
                <a:spcPts val="900"/>
              </a:spcAft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287 Darkening</a:t>
            </a:r>
          </a:p>
          <a:p>
            <a:pPr>
              <a:lnSpc>
                <a:spcPts val="1155"/>
              </a:lnSpc>
              <a:spcAft>
                <a:spcPts val="900"/>
              </a:spcAft>
            </a:pPr>
            <a:endParaRPr lang="en-US" sz="82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1203</TotalTime>
  <Words>1236</Words>
  <Application>Microsoft Office PowerPoint</Application>
  <PresentationFormat>全屏显示(16:9)</PresentationFormat>
  <Paragraphs>197</Paragraphs>
  <Slides>13</Slides>
  <Notes>13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18" baseType="lpstr">
      <vt:lpstr>Arial Unicode MS</vt:lpstr>
      <vt:lpstr>Avenir Next</vt:lpstr>
      <vt:lpstr>Arial</vt:lpstr>
      <vt:lpstr>Georgia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Unequal Nights: Shining Light on Inequality</dc:title>
  <dc:subject>Philadelphia Lighting Equity Analysis</dc:subject>
  <dc:creator>Zhe Huang</dc:creator>
  <cp:lastModifiedBy>Fang, Zhe</cp:lastModifiedBy>
  <cp:revision>45</cp:revision>
  <dcterms:created xsi:type="dcterms:W3CDTF">2025-12-01T08:41:23Z</dcterms:created>
  <dcterms:modified xsi:type="dcterms:W3CDTF">2025-12-11T07:30:34Z</dcterms:modified>
</cp:coreProperties>
</file>